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Sicuro oggi è la nostra risposta al bando del Comune di Gattapelata per l'attraversamento sicuro degli anziani. In un minuto: un'app che si usa a voce, accompagna a piedi e avvisa prima di ogni punto pericoloso.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punti da ricordare: il problema, la soluzione, la rapidità di messa in funzione e la privacy. Il resto della presentazione segue i criteri di valutazione del bando.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dato di partenza è nel bando: 342 vittime anziane nel 2025. Gli investimenti dei pedoni hanno tre cause principali, e per ognuna l'app ha una risposta precisa.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L'utente non deve saper usare una mappa né scrivere: preme un pulsante e dice dove vuole andare. L'app calcola il percorso pedonale, individua i punti critici e durante il cammino avvisa prima di ognuno. All'arrivo il viaggio viene registrato sul telefono.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avviso, giallo, prepara la persona. Il secondo, rosso, la fa fermare sul bordo del marciapiede. Nella demo il cammino simulato resta fermo finché non si preme «Ho capito». Con la pioggia, il FERMATI aggiunge che le auto frenano più tardi.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percorso viene campionato ogni 3 metri. L'avviso di attraversamento scatta quando il pedone entra nella fascia di 9 metri attorno all'asse della strada ed esce dal lato opposto. Chi cammina lungo una strada trafficata per oltre 60 metri riceve invece l'invito a restare sul marciapiede.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facilità d'uso, 20 punti. Un solo gesto principale; tutto è anche parlato; testi grandi e alto contrasto. Al primo avvio si salva casa, e «Torna a casa» diventa il pulsante più grande. Chi non vuole parlare può scrivere.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efficacia, 30 punti. Proponiamo al Comune un confronto prima e dopo, con un gruppo di controllo. Le vite salvate stimate si calcolano come riduzione degli eventi nei punti coperti per il tasso di letalità storico, in un cruscotto trimestrale.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originalità, 15 punti. La differenza principale: usiamo dati pensati per gli automobilisti, come cantieri e incidenti, per proteggere chi va a piedi. E non serve installare nulla in strada.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fattibilità, 10 punti. L'app è una PWA statica: nessun server da installare. Il codice è collegato a Cloudflare, che ricompila e pubblica a ogni modifica. Il prototipo funziona già sul comune pilota di Prevalle.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 privacy, 5 punti. Ai servizi di mappa arrivano solo partenza e destinazione del singolo percorso. Per il meteo la posizione è arrotondata a circa un chilometro. Cloudflare ospita solo i file dell'app. Un'eventuale condivisione con il Comune sarebbe solo su consenso e come totali anonimi.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costi infrastrutturali sono trascurabili. L'unica voce a consumo, dopo il pilota, sono le API di Google, in base ai percorsi calcolati.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Siamo trasparenti sui limiti: alcuni dipendono dal browser dell'iPhone, altri dalla qualità dei dati cartografici, che miglioreremo con il Comune nei primi mesi.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la demo dal vivo: premiamo Municipio, ascoltiamo il riepilogo vocale e partiamo. A 40 metri dal primo punto critico compare l'avviso giallo, poi il FERMATI rosso.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T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rtlCol="0"/>
          <a:lstStyle>
            <a:lvl1pPr indent="0" marL="0">
              <a:buNone/>
              <a:defRPr lang="en-US" sz="2800" b="1" dirty="0">
                <a:solidFill>
                  <a:srgbClr val="1B2333"/>
                </a:solidFill>
                <a:latin typeface="Montserrat" pitchFamily="34" charset="0"/>
                <a:ea typeface="Montserrat" pitchFamily="34" charset="-122"/>
                <a:cs typeface="Montserrat"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CURO">
    <p:bg>
      <p:bgPr>
        <a:solidFill>
          <a:srgbClr val="0B3D9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685800"/>
            <a:ext cx="1097280" cy="1097280"/>
          </a:xfrm>
          <a:prstGeom prst="rect">
            <a:avLst/>
          </a:prstGeom>
        </p:spPr>
      </p:pic>
      <p:sp>
        <p:nvSpPr>
          <p:cNvPr id="3" name="Text 0"/>
          <p:cNvSpPr txBox="1"/>
          <p:nvPr/>
        </p:nvSpPr>
        <p:spPr>
          <a:xfrm>
            <a:off x="457200" y="1965960"/>
            <a:ext cx="8229600" cy="777240"/>
          </a:xfrm>
          <a:prstGeom prst="rect">
            <a:avLst/>
          </a:prstGeom>
          <a:noFill/>
          <a:ln/>
        </p:spPr>
        <p:txBody>
          <a:bodyPr wrap="square" lIns="0" tIns="0" rIns="0" bIns="0" rtlCol="0" anchor="t"/>
          <a:lstStyle/>
          <a:p>
            <a:pPr algn="ctr" indent="0" marL="0">
              <a:buNone/>
            </a:pPr>
            <a:r>
              <a:rPr lang="en-US" sz="4800" b="1" dirty="0">
                <a:solidFill>
                  <a:srgbClr val="FFFFFF"/>
                </a:solidFill>
                <a:latin typeface="Montserrat" pitchFamily="34" charset="0"/>
                <a:ea typeface="Montserrat" pitchFamily="34" charset="-122"/>
                <a:cs typeface="Montserrat" pitchFamily="34" charset="-120"/>
              </a:rPr>
              <a:t>Sicuro oggi</a:t>
            </a:r>
            <a:endParaRPr lang="en-US" sz="4800" dirty="0"/>
          </a:p>
        </p:txBody>
      </p:sp>
      <p:sp>
        <p:nvSpPr>
          <p:cNvPr id="4" name="Text 1"/>
          <p:cNvSpPr txBox="1"/>
          <p:nvPr/>
        </p:nvSpPr>
        <p:spPr>
          <a:xfrm>
            <a:off x="1143000" y="2834640"/>
            <a:ext cx="6858000" cy="685800"/>
          </a:xfrm>
          <a:prstGeom prst="rect">
            <a:avLst/>
          </a:prstGeom>
          <a:noFill/>
          <a:ln/>
        </p:spPr>
        <p:txBody>
          <a:bodyPr wrap="square" lIns="0" tIns="0" rIns="0" bIns="0" rtlCol="0" anchor="t"/>
          <a:lstStyle/>
          <a:p>
            <a:pPr algn="ctr" indent="0" marL="0">
              <a:buNone/>
            </a:pPr>
            <a:r>
              <a:rPr lang="en-US" sz="2000" dirty="0">
                <a:solidFill>
                  <a:srgbClr val="DCE4F2"/>
                </a:solidFill>
                <a:latin typeface="Lato" pitchFamily="34" charset="0"/>
                <a:ea typeface="Lato" pitchFamily="34" charset="-122"/>
                <a:cs typeface="Lato" pitchFamily="34" charset="-120"/>
              </a:rPr>
              <a:t>Accompagna a piedi le persone anziane e le avvisa prima di ogni punto pericoloso</a:t>
            </a:r>
            <a:endParaRPr lang="en-US" sz="2000" dirty="0"/>
          </a:p>
        </p:txBody>
      </p:sp>
      <p:sp>
        <p:nvSpPr>
          <p:cNvPr id="5" name="Text 2"/>
          <p:cNvSpPr txBox="1"/>
          <p:nvPr/>
        </p:nvSpPr>
        <p:spPr>
          <a:xfrm>
            <a:off x="457200" y="4160520"/>
            <a:ext cx="8229600" cy="320040"/>
          </a:xfrm>
          <a:prstGeom prst="rect">
            <a:avLst/>
          </a:prstGeom>
          <a:noFill/>
          <a:ln/>
        </p:spPr>
        <p:txBody>
          <a:bodyPr wrap="square" lIns="0" tIns="0" rIns="0" bIns="0" rtlCol="0" anchor="t"/>
          <a:lstStyle/>
          <a:p>
            <a:pPr algn="ctr" indent="0" marL="0">
              <a:buNone/>
            </a:pPr>
            <a:r>
              <a:rPr lang="en-US" sz="1400" b="1" dirty="0">
                <a:solidFill>
                  <a:srgbClr val="FFD200"/>
                </a:solidFill>
                <a:latin typeface="Lato" pitchFamily="34" charset="0"/>
                <a:ea typeface="Lato" pitchFamily="34" charset="-122"/>
                <a:cs typeface="Lato" pitchFamily="34" charset="-120"/>
              </a:rPr>
              <a:t>Offerta tecnica · Bando del Comune di Gattapelata · 12 ottobre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In sintesi</a:t>
            </a:r>
            <a:endParaRPr lang="en-US" sz="2800" dirty="0"/>
          </a:p>
        </p:txBody>
      </p:sp>
      <p:sp>
        <p:nvSpPr>
          <p:cNvPr id="3" name="Shape 1"/>
          <p:cNvSpPr/>
          <p:nvPr/>
        </p:nvSpPr>
        <p:spPr>
          <a:xfrm>
            <a:off x="457200" y="1508760"/>
            <a:ext cx="3931920" cy="1417320"/>
          </a:xfrm>
          <a:prstGeom prst="roundRect">
            <a:avLst>
              <a:gd name="adj" fmla="val 5161"/>
            </a:avLst>
          </a:prstGeom>
          <a:solidFill>
            <a:srgbClr val="E8EEF8"/>
          </a:solidFill>
          <a:ln/>
        </p:spPr>
      </p:sp>
      <p:sp>
        <p:nvSpPr>
          <p:cNvPr id="4" name="Shape 2"/>
          <p:cNvSpPr/>
          <p:nvPr/>
        </p:nvSpPr>
        <p:spPr>
          <a:xfrm>
            <a:off x="685800" y="1783080"/>
            <a:ext cx="548640" cy="548640"/>
          </a:xfrm>
          <a:prstGeom prst="ellipse">
            <a:avLst/>
          </a:prstGeom>
          <a:solidFill>
            <a:srgbClr val="0B3D91"/>
          </a:solidFill>
          <a:ln/>
        </p:spPr>
      </p:sp>
      <p:pic>
        <p:nvPicPr>
          <p:cNvPr id="5" name="Image 0" descr="preencoded.png">    </p:cNvPr>
          <p:cNvPicPr>
            <a:picLocks noChangeAspect="1"/>
          </p:cNvPicPr>
          <p:nvPr/>
        </p:nvPicPr>
        <p:blipFill>
          <a:blip r:embed="rId1"/>
          <a:stretch>
            <a:fillRect/>
          </a:stretch>
        </p:blipFill>
        <p:spPr>
          <a:xfrm>
            <a:off x="806501" y="1903781"/>
            <a:ext cx="307238" cy="307238"/>
          </a:xfrm>
          <a:prstGeom prst="rect">
            <a:avLst/>
          </a:prstGeom>
        </p:spPr>
      </p:pic>
      <p:sp>
        <p:nvSpPr>
          <p:cNvPr id="6" name="Text 3"/>
          <p:cNvSpPr txBox="1"/>
          <p:nvPr/>
        </p:nvSpPr>
        <p:spPr>
          <a:xfrm>
            <a:off x="1417320" y="1709928"/>
            <a:ext cx="2788920" cy="320040"/>
          </a:xfrm>
          <a:prstGeom prst="rect">
            <a:avLst/>
          </a:prstGeom>
          <a:noFill/>
          <a:ln/>
        </p:spPr>
        <p:txBody>
          <a:bodyPr wrap="square" lIns="0" tIns="0" rIns="0" bIns="0" rtlCol="0" anchor="t"/>
          <a:lstStyle/>
          <a:p>
            <a:pPr indent="0" marL="0">
              <a:buNone/>
            </a:pPr>
            <a:r>
              <a:rPr lang="en-US" sz="1600" b="1" dirty="0">
                <a:solidFill>
                  <a:srgbClr val="0B3D91"/>
                </a:solidFill>
                <a:latin typeface="Montserrat" pitchFamily="34" charset="0"/>
                <a:ea typeface="Montserrat" pitchFamily="34" charset="-122"/>
                <a:cs typeface="Montserrat" pitchFamily="34" charset="-120"/>
              </a:rPr>
              <a:t>Il problema</a:t>
            </a:r>
            <a:endParaRPr lang="en-US" sz="1600" dirty="0"/>
          </a:p>
        </p:txBody>
      </p:sp>
      <p:sp>
        <p:nvSpPr>
          <p:cNvPr id="7" name="Text 4"/>
          <p:cNvSpPr txBox="1"/>
          <p:nvPr/>
        </p:nvSpPr>
        <p:spPr>
          <a:xfrm>
            <a:off x="1417320" y="2075688"/>
            <a:ext cx="2788920" cy="7315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342 vittime anziane nel 2025 negli attraversamenti del centro storico</a:t>
            </a:r>
            <a:endParaRPr lang="en-US" sz="1400" dirty="0"/>
          </a:p>
        </p:txBody>
      </p:sp>
      <p:sp>
        <p:nvSpPr>
          <p:cNvPr id="8" name="Shape 5"/>
          <p:cNvSpPr/>
          <p:nvPr/>
        </p:nvSpPr>
        <p:spPr>
          <a:xfrm>
            <a:off x="4754880" y="1508760"/>
            <a:ext cx="3931920" cy="1417320"/>
          </a:xfrm>
          <a:prstGeom prst="roundRect">
            <a:avLst>
              <a:gd name="adj" fmla="val 5161"/>
            </a:avLst>
          </a:prstGeom>
          <a:solidFill>
            <a:srgbClr val="E8EEF8"/>
          </a:solidFill>
          <a:ln/>
        </p:spPr>
      </p:sp>
      <p:sp>
        <p:nvSpPr>
          <p:cNvPr id="9" name="Shape 6"/>
          <p:cNvSpPr/>
          <p:nvPr/>
        </p:nvSpPr>
        <p:spPr>
          <a:xfrm>
            <a:off x="4983480" y="1783080"/>
            <a:ext cx="548640" cy="548640"/>
          </a:xfrm>
          <a:prstGeom prst="ellipse">
            <a:avLst/>
          </a:prstGeom>
          <a:solidFill>
            <a:srgbClr val="0B3D91"/>
          </a:solidFill>
          <a:ln/>
        </p:spPr>
      </p:sp>
      <p:pic>
        <p:nvPicPr>
          <p:cNvPr id="10" name="Image 1" descr="preencoded.png">    </p:cNvPr>
          <p:cNvPicPr>
            <a:picLocks noChangeAspect="1"/>
          </p:cNvPicPr>
          <p:nvPr/>
        </p:nvPicPr>
        <p:blipFill>
          <a:blip r:embed="rId2"/>
          <a:stretch>
            <a:fillRect/>
          </a:stretch>
        </p:blipFill>
        <p:spPr>
          <a:xfrm>
            <a:off x="5104181" y="1903781"/>
            <a:ext cx="307238" cy="307238"/>
          </a:xfrm>
          <a:prstGeom prst="rect">
            <a:avLst/>
          </a:prstGeom>
        </p:spPr>
      </p:pic>
      <p:sp>
        <p:nvSpPr>
          <p:cNvPr id="11" name="Text 7"/>
          <p:cNvSpPr txBox="1"/>
          <p:nvPr/>
        </p:nvSpPr>
        <p:spPr>
          <a:xfrm>
            <a:off x="5715000" y="1709928"/>
            <a:ext cx="2788920" cy="320040"/>
          </a:xfrm>
          <a:prstGeom prst="rect">
            <a:avLst/>
          </a:prstGeom>
          <a:noFill/>
          <a:ln/>
        </p:spPr>
        <p:txBody>
          <a:bodyPr wrap="square" lIns="0" tIns="0" rIns="0" bIns="0" rtlCol="0" anchor="t"/>
          <a:lstStyle/>
          <a:p>
            <a:pPr indent="0" marL="0">
              <a:buNone/>
            </a:pPr>
            <a:r>
              <a:rPr lang="en-US" sz="1600" b="1" dirty="0">
                <a:solidFill>
                  <a:srgbClr val="0B3D91"/>
                </a:solidFill>
                <a:latin typeface="Montserrat" pitchFamily="34" charset="0"/>
                <a:ea typeface="Montserrat" pitchFamily="34" charset="-122"/>
                <a:cs typeface="Montserrat" pitchFamily="34" charset="-120"/>
              </a:rPr>
              <a:t>La soluzione</a:t>
            </a:r>
            <a:endParaRPr lang="en-US" sz="1600" dirty="0"/>
          </a:p>
        </p:txBody>
      </p:sp>
      <p:sp>
        <p:nvSpPr>
          <p:cNvPr id="12" name="Text 8"/>
          <p:cNvSpPr txBox="1"/>
          <p:nvPr/>
        </p:nvSpPr>
        <p:spPr>
          <a:xfrm>
            <a:off x="5715000" y="2075688"/>
            <a:ext cx="2788920" cy="7315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Una guida a voce che avvisa prima di ogni attraversamento, incrocio e cantiere</a:t>
            </a:r>
            <a:endParaRPr lang="en-US" sz="1400" dirty="0"/>
          </a:p>
        </p:txBody>
      </p:sp>
      <p:sp>
        <p:nvSpPr>
          <p:cNvPr id="13" name="Shape 9"/>
          <p:cNvSpPr/>
          <p:nvPr/>
        </p:nvSpPr>
        <p:spPr>
          <a:xfrm>
            <a:off x="457200" y="3108960"/>
            <a:ext cx="3931920" cy="1417320"/>
          </a:xfrm>
          <a:prstGeom prst="roundRect">
            <a:avLst>
              <a:gd name="adj" fmla="val 5161"/>
            </a:avLst>
          </a:prstGeom>
          <a:solidFill>
            <a:srgbClr val="E8EEF8"/>
          </a:solidFill>
          <a:ln/>
        </p:spPr>
      </p:sp>
      <p:sp>
        <p:nvSpPr>
          <p:cNvPr id="14" name="Shape 10"/>
          <p:cNvSpPr/>
          <p:nvPr/>
        </p:nvSpPr>
        <p:spPr>
          <a:xfrm>
            <a:off x="685800" y="3383280"/>
            <a:ext cx="548640" cy="548640"/>
          </a:xfrm>
          <a:prstGeom prst="ellipse">
            <a:avLst/>
          </a:prstGeom>
          <a:solidFill>
            <a:srgbClr val="0B3D91"/>
          </a:solidFill>
          <a:ln/>
        </p:spPr>
      </p:sp>
      <p:pic>
        <p:nvPicPr>
          <p:cNvPr id="15" name="Image 2" descr="preencoded.png">    </p:cNvPr>
          <p:cNvPicPr>
            <a:picLocks noChangeAspect="1"/>
          </p:cNvPicPr>
          <p:nvPr/>
        </p:nvPicPr>
        <p:blipFill>
          <a:blip r:embed="rId3"/>
          <a:stretch>
            <a:fillRect/>
          </a:stretch>
        </p:blipFill>
        <p:spPr>
          <a:xfrm>
            <a:off x="806501" y="3503981"/>
            <a:ext cx="307238" cy="307238"/>
          </a:xfrm>
          <a:prstGeom prst="rect">
            <a:avLst/>
          </a:prstGeom>
        </p:spPr>
      </p:pic>
      <p:sp>
        <p:nvSpPr>
          <p:cNvPr id="16" name="Text 11"/>
          <p:cNvSpPr txBox="1"/>
          <p:nvPr/>
        </p:nvSpPr>
        <p:spPr>
          <a:xfrm>
            <a:off x="1417320" y="3310128"/>
            <a:ext cx="2788920" cy="320040"/>
          </a:xfrm>
          <a:prstGeom prst="rect">
            <a:avLst/>
          </a:prstGeom>
          <a:noFill/>
          <a:ln/>
        </p:spPr>
        <p:txBody>
          <a:bodyPr wrap="square" lIns="0" tIns="0" rIns="0" bIns="0" rtlCol="0" anchor="t"/>
          <a:lstStyle/>
          <a:p>
            <a:pPr indent="0" marL="0">
              <a:buNone/>
            </a:pPr>
            <a:r>
              <a:rPr lang="en-US" sz="1600" b="1" dirty="0">
                <a:solidFill>
                  <a:srgbClr val="0B3D91"/>
                </a:solidFill>
                <a:latin typeface="Montserrat" pitchFamily="34" charset="0"/>
                <a:ea typeface="Montserrat" pitchFamily="34" charset="-122"/>
                <a:cs typeface="Montserrat" pitchFamily="34" charset="-120"/>
              </a:rPr>
              <a:t>Subito operativa</a:t>
            </a:r>
            <a:endParaRPr lang="en-US" sz="1600" dirty="0"/>
          </a:p>
        </p:txBody>
      </p:sp>
      <p:sp>
        <p:nvSpPr>
          <p:cNvPr id="17" name="Text 12"/>
          <p:cNvSpPr txBox="1"/>
          <p:nvPr/>
        </p:nvSpPr>
        <p:spPr>
          <a:xfrm>
            <a:off x="1417320" y="3675888"/>
            <a:ext cx="2788920" cy="7315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Online in 90 minuti, si installa da un link, nessun lavoro nei vicoli</a:t>
            </a:r>
            <a:endParaRPr lang="en-US" sz="1400" dirty="0"/>
          </a:p>
        </p:txBody>
      </p:sp>
      <p:sp>
        <p:nvSpPr>
          <p:cNvPr id="18" name="Shape 13"/>
          <p:cNvSpPr/>
          <p:nvPr/>
        </p:nvSpPr>
        <p:spPr>
          <a:xfrm>
            <a:off x="4754880" y="3108960"/>
            <a:ext cx="3931920" cy="1417320"/>
          </a:xfrm>
          <a:prstGeom prst="roundRect">
            <a:avLst>
              <a:gd name="adj" fmla="val 5161"/>
            </a:avLst>
          </a:prstGeom>
          <a:solidFill>
            <a:srgbClr val="E8EEF8"/>
          </a:solidFill>
          <a:ln/>
        </p:spPr>
      </p:sp>
      <p:sp>
        <p:nvSpPr>
          <p:cNvPr id="19" name="Shape 14"/>
          <p:cNvSpPr/>
          <p:nvPr/>
        </p:nvSpPr>
        <p:spPr>
          <a:xfrm>
            <a:off x="4983480" y="3383280"/>
            <a:ext cx="548640" cy="548640"/>
          </a:xfrm>
          <a:prstGeom prst="ellipse">
            <a:avLst/>
          </a:prstGeom>
          <a:solidFill>
            <a:srgbClr val="0B3D91"/>
          </a:solidFill>
          <a:ln/>
        </p:spPr>
      </p:sp>
      <p:pic>
        <p:nvPicPr>
          <p:cNvPr id="20" name="Image 3" descr="preencoded.png">    </p:cNvPr>
          <p:cNvPicPr>
            <a:picLocks noChangeAspect="1"/>
          </p:cNvPicPr>
          <p:nvPr/>
        </p:nvPicPr>
        <p:blipFill>
          <a:blip r:embed="rId4"/>
          <a:stretch>
            <a:fillRect/>
          </a:stretch>
        </p:blipFill>
        <p:spPr>
          <a:xfrm>
            <a:off x="5104181" y="3503981"/>
            <a:ext cx="307238" cy="307238"/>
          </a:xfrm>
          <a:prstGeom prst="rect">
            <a:avLst/>
          </a:prstGeom>
        </p:spPr>
      </p:pic>
      <p:sp>
        <p:nvSpPr>
          <p:cNvPr id="21" name="Text 15"/>
          <p:cNvSpPr txBox="1"/>
          <p:nvPr/>
        </p:nvSpPr>
        <p:spPr>
          <a:xfrm>
            <a:off x="5715000" y="3310128"/>
            <a:ext cx="2788920" cy="320040"/>
          </a:xfrm>
          <a:prstGeom prst="rect">
            <a:avLst/>
          </a:prstGeom>
          <a:noFill/>
          <a:ln/>
        </p:spPr>
        <p:txBody>
          <a:bodyPr wrap="square" lIns="0" tIns="0" rIns="0" bIns="0" rtlCol="0" anchor="t"/>
          <a:lstStyle/>
          <a:p>
            <a:pPr indent="0" marL="0">
              <a:buNone/>
            </a:pPr>
            <a:r>
              <a:rPr lang="en-US" sz="1600" b="1" dirty="0">
                <a:solidFill>
                  <a:srgbClr val="0B3D91"/>
                </a:solidFill>
                <a:latin typeface="Montserrat" pitchFamily="34" charset="0"/>
                <a:ea typeface="Montserrat" pitchFamily="34" charset="-122"/>
                <a:cs typeface="Montserrat" pitchFamily="34" charset="-120"/>
              </a:rPr>
              <a:t>Rispetto della privacy</a:t>
            </a:r>
            <a:endParaRPr lang="en-US" sz="1600" dirty="0"/>
          </a:p>
        </p:txBody>
      </p:sp>
      <p:sp>
        <p:nvSpPr>
          <p:cNvPr id="22" name="Text 16"/>
          <p:cNvSpPr txBox="1"/>
          <p:nvPr/>
        </p:nvSpPr>
        <p:spPr>
          <a:xfrm>
            <a:off x="5715000" y="3675888"/>
            <a:ext cx="2788920" cy="7315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Nessun account: posizione e posti salvati restano sul telefono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L'app agisce sui tre fattori che causano gli investimenti dei pedoni</a:t>
            </a:r>
            <a:endParaRPr lang="en-US" sz="2800" dirty="0"/>
          </a:p>
        </p:txBody>
      </p:sp>
      <p:sp>
        <p:nvSpPr>
          <p:cNvPr id="3" name="Shape 1"/>
          <p:cNvSpPr/>
          <p:nvPr/>
        </p:nvSpPr>
        <p:spPr>
          <a:xfrm>
            <a:off x="457200" y="1508760"/>
            <a:ext cx="3291840" cy="3017520"/>
          </a:xfrm>
          <a:prstGeom prst="roundRect">
            <a:avLst>
              <a:gd name="adj" fmla="val 2424"/>
            </a:avLst>
          </a:prstGeom>
          <a:solidFill>
            <a:srgbClr val="E8EEF8"/>
          </a:solidFill>
          <a:ln/>
        </p:spPr>
      </p:sp>
      <p:sp>
        <p:nvSpPr>
          <p:cNvPr id="4" name="Text 2"/>
          <p:cNvSpPr txBox="1"/>
          <p:nvPr/>
        </p:nvSpPr>
        <p:spPr>
          <a:xfrm>
            <a:off x="731520" y="1783080"/>
            <a:ext cx="2743200" cy="1097280"/>
          </a:xfrm>
          <a:prstGeom prst="rect">
            <a:avLst/>
          </a:prstGeom>
          <a:noFill/>
          <a:ln/>
        </p:spPr>
        <p:txBody>
          <a:bodyPr wrap="square" lIns="0" tIns="0" rIns="0" bIns="0" rtlCol="0" anchor="t"/>
          <a:lstStyle/>
          <a:p>
            <a:pPr indent="0" marL="0">
              <a:buNone/>
            </a:pPr>
            <a:r>
              <a:rPr lang="en-US" sz="8000" b="1" dirty="0">
                <a:solidFill>
                  <a:srgbClr val="0B3D91"/>
                </a:solidFill>
                <a:latin typeface="Montserrat" pitchFamily="34" charset="0"/>
                <a:ea typeface="Montserrat" pitchFamily="34" charset="-122"/>
                <a:cs typeface="Montserrat" pitchFamily="34" charset="-120"/>
              </a:rPr>
              <a:t>342</a:t>
            </a:r>
            <a:endParaRPr lang="en-US" sz="8000" dirty="0"/>
          </a:p>
        </p:txBody>
      </p:sp>
      <p:sp>
        <p:nvSpPr>
          <p:cNvPr id="5" name="Text 3"/>
          <p:cNvSpPr txBox="1"/>
          <p:nvPr/>
        </p:nvSpPr>
        <p:spPr>
          <a:xfrm>
            <a:off x="731520" y="2971800"/>
            <a:ext cx="2743200" cy="914400"/>
          </a:xfrm>
          <a:prstGeom prst="rect">
            <a:avLst/>
          </a:prstGeom>
          <a:noFill/>
          <a:ln/>
        </p:spPr>
        <p:txBody>
          <a:bodyPr wrap="square" lIns="0" tIns="0" rIns="0" bIns="0" rtlCol="0" anchor="t"/>
          <a:lstStyle/>
          <a:p>
            <a:pPr indent="0" marL="0">
              <a:buNone/>
            </a:pPr>
            <a:r>
              <a:rPr lang="en-US" sz="1600" dirty="0">
                <a:solidFill>
                  <a:srgbClr val="1B2333"/>
                </a:solidFill>
                <a:latin typeface="Lato" pitchFamily="34" charset="0"/>
                <a:ea typeface="Lato" pitchFamily="34" charset="-122"/>
                <a:cs typeface="Lato" pitchFamily="34" charset="-120"/>
              </a:rPr>
              <a:t>vittime anziane negli attraversamenti del centro storico nel 2025</a:t>
            </a:r>
            <a:endParaRPr lang="en-US" sz="1600" dirty="0"/>
          </a:p>
        </p:txBody>
      </p:sp>
      <p:sp>
        <p:nvSpPr>
          <p:cNvPr id="6" name="Shape 4"/>
          <p:cNvSpPr/>
          <p:nvPr/>
        </p:nvSpPr>
        <p:spPr>
          <a:xfrm>
            <a:off x="4114800" y="1600200"/>
            <a:ext cx="457200" cy="457200"/>
          </a:xfrm>
          <a:prstGeom prst="ellipse">
            <a:avLst/>
          </a:prstGeom>
          <a:solidFill>
            <a:srgbClr val="0B3D91"/>
          </a:solidFill>
          <a:ln/>
        </p:spPr>
      </p:sp>
      <p:sp>
        <p:nvSpPr>
          <p:cNvPr id="7" name="Text 5"/>
          <p:cNvSpPr txBox="1"/>
          <p:nvPr/>
        </p:nvSpPr>
        <p:spPr>
          <a:xfrm>
            <a:off x="411480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txBox="1"/>
          <p:nvPr/>
        </p:nvSpPr>
        <p:spPr>
          <a:xfrm>
            <a:off x="4754880" y="1581912"/>
            <a:ext cx="3931920" cy="777240"/>
          </a:xfrm>
          <a:prstGeom prst="rect">
            <a:avLst/>
          </a:prstGeom>
          <a:noFill/>
          <a:ln/>
        </p:spPr>
        <p:txBody>
          <a:bodyPr wrap="square" lIns="0" tIns="0" rIns="0" bIns="0" rtlCol="0" anchor="t"/>
          <a:lstStyle/>
          <a:p>
            <a:pPr indent="0" marL="0">
              <a:buNone/>
            </a:pPr>
            <a:r>
              <a:rPr lang="en-US" sz="1600" b="1" dirty="0">
                <a:solidFill>
                  <a:srgbClr val="1B2333"/>
                </a:solidFill>
                <a:latin typeface="Montserrat" pitchFamily="34" charset="0"/>
                <a:ea typeface="Montserrat" pitchFamily="34" charset="-122"/>
                <a:cs typeface="Montserrat" pitchFamily="34" charset="-120"/>
              </a:rPr>
              <a:t>Attraversare senza fermarsi</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«FERMATI» rosso a 15 metri dall'attraversamento</a:t>
            </a:r>
            <a:endParaRPr lang="en-US" sz="1400" dirty="0"/>
          </a:p>
        </p:txBody>
      </p:sp>
      <p:sp>
        <p:nvSpPr>
          <p:cNvPr id="9" name="Shape 7"/>
          <p:cNvSpPr/>
          <p:nvPr/>
        </p:nvSpPr>
        <p:spPr>
          <a:xfrm>
            <a:off x="4114800" y="2606040"/>
            <a:ext cx="457200" cy="457200"/>
          </a:xfrm>
          <a:prstGeom prst="ellipse">
            <a:avLst/>
          </a:prstGeom>
          <a:solidFill>
            <a:srgbClr val="0B3D91"/>
          </a:solidFill>
          <a:ln/>
        </p:spPr>
      </p:sp>
      <p:sp>
        <p:nvSpPr>
          <p:cNvPr id="10" name="Text 8"/>
          <p:cNvSpPr txBox="1"/>
          <p:nvPr/>
        </p:nvSpPr>
        <p:spPr>
          <a:xfrm>
            <a:off x="411480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1" name="Text 9"/>
          <p:cNvSpPr txBox="1"/>
          <p:nvPr/>
        </p:nvSpPr>
        <p:spPr>
          <a:xfrm>
            <a:off x="4754880" y="2587752"/>
            <a:ext cx="3931920" cy="777240"/>
          </a:xfrm>
          <a:prstGeom prst="rect">
            <a:avLst/>
          </a:prstGeom>
          <a:noFill/>
          <a:ln/>
        </p:spPr>
        <p:txBody>
          <a:bodyPr wrap="square" lIns="0" tIns="0" rIns="0" bIns="0" rtlCol="0" anchor="t"/>
          <a:lstStyle/>
          <a:p>
            <a:pPr indent="0" marL="0">
              <a:buNone/>
            </a:pPr>
            <a:r>
              <a:rPr lang="en-US" sz="1600" b="1" dirty="0">
                <a:solidFill>
                  <a:srgbClr val="1B2333"/>
                </a:solidFill>
                <a:latin typeface="Montserrat" pitchFamily="34" charset="0"/>
                <a:ea typeface="Montserrat" pitchFamily="34" charset="-122"/>
                <a:cs typeface="Montserrat" pitchFamily="34" charset="-120"/>
              </a:rPr>
              <a:t>Non vedere il pericolo</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Avviso a 40 metri con voce, vibrazione e schermo</a:t>
            </a:r>
            <a:endParaRPr lang="en-US" sz="1400" dirty="0"/>
          </a:p>
        </p:txBody>
      </p:sp>
      <p:sp>
        <p:nvSpPr>
          <p:cNvPr id="12" name="Shape 10"/>
          <p:cNvSpPr/>
          <p:nvPr/>
        </p:nvSpPr>
        <p:spPr>
          <a:xfrm>
            <a:off x="4114800" y="3611880"/>
            <a:ext cx="457200" cy="457200"/>
          </a:xfrm>
          <a:prstGeom prst="ellipse">
            <a:avLst/>
          </a:prstGeom>
          <a:solidFill>
            <a:srgbClr val="0B3D91"/>
          </a:solidFill>
          <a:ln/>
        </p:spPr>
      </p:sp>
      <p:sp>
        <p:nvSpPr>
          <p:cNvPr id="13" name="Text 11"/>
          <p:cNvSpPr txBox="1"/>
          <p:nvPr/>
        </p:nvSpPr>
        <p:spPr>
          <a:xfrm>
            <a:off x="411480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4" name="Text 12"/>
          <p:cNvSpPr txBox="1"/>
          <p:nvPr/>
        </p:nvSpPr>
        <p:spPr>
          <a:xfrm>
            <a:off x="4754880" y="3593592"/>
            <a:ext cx="3931920" cy="777240"/>
          </a:xfrm>
          <a:prstGeom prst="rect">
            <a:avLst/>
          </a:prstGeom>
          <a:noFill/>
          <a:ln/>
        </p:spPr>
        <p:txBody>
          <a:bodyPr wrap="square" lIns="0" tIns="0" rIns="0" bIns="0" rtlCol="0" anchor="t"/>
          <a:lstStyle/>
          <a:p>
            <a:pPr indent="0" marL="0">
              <a:buNone/>
            </a:pPr>
            <a:r>
              <a:rPr lang="en-US" sz="1600" b="1" dirty="0">
                <a:solidFill>
                  <a:srgbClr val="1B2333"/>
                </a:solidFill>
                <a:latin typeface="Montserrat" pitchFamily="34" charset="0"/>
                <a:ea typeface="Montserrat" pitchFamily="34" charset="-122"/>
                <a:cs typeface="Montserrat" pitchFamily="34" charset="-120"/>
              </a:rPr>
              <a:t>Scegliere percorsi pericolosi</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Punti critici annunciati prima di partire</a:t>
            </a:r>
            <a:endParaRPr lang="en-US" sz="1400" dirty="0"/>
          </a:p>
        </p:txBody>
      </p:sp>
      <p:sp>
        <p:nvSpPr>
          <p:cNvPr id="15" name="Text 13"/>
          <p:cNvSpPr txBox="1"/>
          <p:nvPr/>
        </p:nvSpPr>
        <p:spPr>
          <a:xfrm>
            <a:off x="457200" y="4709160"/>
            <a:ext cx="7315200" cy="274320"/>
          </a:xfrm>
          <a:prstGeom prst="rect">
            <a:avLst/>
          </a:prstGeom>
          <a:noFill/>
          <a:ln/>
        </p:spPr>
        <p:txBody>
          <a:bodyPr wrap="square" lIns="0" tIns="0" rIns="0" bIns="0" rtlCol="0" anchor="t"/>
          <a:lstStyle/>
          <a:p>
            <a:pPr indent="0" marL="0">
              <a:buNone/>
            </a:pPr>
            <a:r>
              <a:rPr lang="en-US" sz="1000" dirty="0">
                <a:solidFill>
                  <a:srgbClr val="5B6B85"/>
                </a:solidFill>
                <a:latin typeface="Lato" pitchFamily="34" charset="0"/>
                <a:ea typeface="Lato" pitchFamily="34" charset="-122"/>
                <a:cs typeface="Lato" pitchFamily="34" charset="-120"/>
              </a:rPr>
              <a:t>Fonte: dato 2025 riportato nel bando di gara del Comune di Gattapelata.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Basta dire dove andare: al percorso e agli avvisi pensa l'app</a:t>
            </a:r>
            <a:endParaRPr lang="en-US" sz="2800" dirty="0"/>
          </a:p>
        </p:txBody>
      </p:sp>
      <p:sp>
        <p:nvSpPr>
          <p:cNvPr id="3" name="Shape 1"/>
          <p:cNvSpPr/>
          <p:nvPr/>
        </p:nvSpPr>
        <p:spPr>
          <a:xfrm>
            <a:off x="854964" y="1554480"/>
            <a:ext cx="777240" cy="777240"/>
          </a:xfrm>
          <a:prstGeom prst="ellipse">
            <a:avLst/>
          </a:prstGeom>
          <a:solidFill>
            <a:srgbClr val="0B3D91"/>
          </a:solidFill>
          <a:ln/>
        </p:spPr>
      </p:sp>
      <p:pic>
        <p:nvPicPr>
          <p:cNvPr id="4" name="Image 0" descr="preencoded.png">    </p:cNvPr>
          <p:cNvPicPr>
            <a:picLocks noChangeAspect="1"/>
          </p:cNvPicPr>
          <p:nvPr/>
        </p:nvPicPr>
        <p:blipFill>
          <a:blip r:embed="rId1"/>
          <a:stretch>
            <a:fillRect/>
          </a:stretch>
        </p:blipFill>
        <p:spPr>
          <a:xfrm>
            <a:off x="1025957" y="1725473"/>
            <a:ext cx="435254" cy="435254"/>
          </a:xfrm>
          <a:prstGeom prst="rect">
            <a:avLst/>
          </a:prstGeom>
        </p:spPr>
      </p:pic>
      <p:sp>
        <p:nvSpPr>
          <p:cNvPr id="5" name="Shape 2"/>
          <p:cNvSpPr/>
          <p:nvPr/>
        </p:nvSpPr>
        <p:spPr>
          <a:xfrm>
            <a:off x="1892808" y="1842516"/>
            <a:ext cx="365760" cy="201168"/>
          </a:xfrm>
          <a:prstGeom prst="rightArrow">
            <a:avLst/>
          </a:prstGeom>
          <a:solidFill>
            <a:srgbClr val="C9D1DE"/>
          </a:solidFill>
          <a:ln/>
        </p:spPr>
      </p:sp>
      <p:sp>
        <p:nvSpPr>
          <p:cNvPr id="6" name="Text 3"/>
          <p:cNvSpPr txBox="1"/>
          <p:nvPr/>
        </p:nvSpPr>
        <p:spPr>
          <a:xfrm>
            <a:off x="502920" y="2514600"/>
            <a:ext cx="1481328"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Destinazione</a:t>
            </a:r>
            <a:endParaRPr lang="en-US" sz="1500" dirty="0"/>
          </a:p>
        </p:txBody>
      </p:sp>
      <p:sp>
        <p:nvSpPr>
          <p:cNvPr id="7" name="Text 4"/>
          <p:cNvSpPr txBox="1"/>
          <p:nvPr/>
        </p:nvSpPr>
        <p:spPr>
          <a:xfrm>
            <a:off x="502920" y="2880360"/>
            <a:ext cx="1481328" cy="100584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Dice «Portami in farmacia»</a:t>
            </a:r>
            <a:endParaRPr lang="en-US" sz="1400" dirty="0"/>
          </a:p>
        </p:txBody>
      </p:sp>
      <p:sp>
        <p:nvSpPr>
          <p:cNvPr id="8" name="Shape 5"/>
          <p:cNvSpPr/>
          <p:nvPr/>
        </p:nvSpPr>
        <p:spPr>
          <a:xfrm>
            <a:off x="2519172" y="1554480"/>
            <a:ext cx="777240" cy="777240"/>
          </a:xfrm>
          <a:prstGeom prst="ellipse">
            <a:avLst/>
          </a:prstGeom>
          <a:solidFill>
            <a:srgbClr val="0B3D91"/>
          </a:solidFill>
          <a:ln/>
        </p:spPr>
      </p:sp>
      <p:pic>
        <p:nvPicPr>
          <p:cNvPr id="9" name="Image 1" descr="preencoded.png">    </p:cNvPr>
          <p:cNvPicPr>
            <a:picLocks noChangeAspect="1"/>
          </p:cNvPicPr>
          <p:nvPr/>
        </p:nvPicPr>
        <p:blipFill>
          <a:blip r:embed="rId2"/>
          <a:stretch>
            <a:fillRect/>
          </a:stretch>
        </p:blipFill>
        <p:spPr>
          <a:xfrm>
            <a:off x="2690165" y="1725473"/>
            <a:ext cx="435254" cy="435254"/>
          </a:xfrm>
          <a:prstGeom prst="rect">
            <a:avLst/>
          </a:prstGeom>
        </p:spPr>
      </p:pic>
      <p:sp>
        <p:nvSpPr>
          <p:cNvPr id="10" name="Shape 6"/>
          <p:cNvSpPr/>
          <p:nvPr/>
        </p:nvSpPr>
        <p:spPr>
          <a:xfrm>
            <a:off x="3557016" y="1842516"/>
            <a:ext cx="365760" cy="201168"/>
          </a:xfrm>
          <a:prstGeom prst="rightArrow">
            <a:avLst/>
          </a:prstGeom>
          <a:solidFill>
            <a:srgbClr val="C9D1DE"/>
          </a:solidFill>
          <a:ln/>
        </p:spPr>
      </p:sp>
      <p:sp>
        <p:nvSpPr>
          <p:cNvPr id="11" name="Text 7"/>
          <p:cNvSpPr txBox="1"/>
          <p:nvPr/>
        </p:nvSpPr>
        <p:spPr>
          <a:xfrm>
            <a:off x="2167128" y="2514600"/>
            <a:ext cx="1481328"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Percorso</a:t>
            </a:r>
            <a:endParaRPr lang="en-US" sz="1500" dirty="0"/>
          </a:p>
        </p:txBody>
      </p:sp>
      <p:sp>
        <p:nvSpPr>
          <p:cNvPr id="12" name="Text 8"/>
          <p:cNvSpPr txBox="1"/>
          <p:nvPr/>
        </p:nvSpPr>
        <p:spPr>
          <a:xfrm>
            <a:off x="2167128" y="2880360"/>
            <a:ext cx="1481328" cy="100584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Calcola la strada e annuncia i punti pericolosi</a:t>
            </a:r>
            <a:endParaRPr lang="en-US" sz="1400" dirty="0"/>
          </a:p>
        </p:txBody>
      </p:sp>
      <p:sp>
        <p:nvSpPr>
          <p:cNvPr id="13" name="Shape 9"/>
          <p:cNvSpPr/>
          <p:nvPr/>
        </p:nvSpPr>
        <p:spPr>
          <a:xfrm>
            <a:off x="4183380" y="1554480"/>
            <a:ext cx="777240" cy="777240"/>
          </a:xfrm>
          <a:prstGeom prst="ellipse">
            <a:avLst/>
          </a:prstGeom>
          <a:solidFill>
            <a:srgbClr val="0B3D91"/>
          </a:solidFill>
          <a:ln/>
        </p:spPr>
      </p:sp>
      <p:pic>
        <p:nvPicPr>
          <p:cNvPr id="14" name="Image 2" descr="preencoded.png">    </p:cNvPr>
          <p:cNvPicPr>
            <a:picLocks noChangeAspect="1"/>
          </p:cNvPicPr>
          <p:nvPr/>
        </p:nvPicPr>
        <p:blipFill>
          <a:blip r:embed="rId3"/>
          <a:stretch>
            <a:fillRect/>
          </a:stretch>
        </p:blipFill>
        <p:spPr>
          <a:xfrm>
            <a:off x="4354373" y="1725473"/>
            <a:ext cx="435254" cy="435254"/>
          </a:xfrm>
          <a:prstGeom prst="rect">
            <a:avLst/>
          </a:prstGeom>
        </p:spPr>
      </p:pic>
      <p:sp>
        <p:nvSpPr>
          <p:cNvPr id="15" name="Shape 10"/>
          <p:cNvSpPr/>
          <p:nvPr/>
        </p:nvSpPr>
        <p:spPr>
          <a:xfrm>
            <a:off x="5221224" y="1842516"/>
            <a:ext cx="365760" cy="201168"/>
          </a:xfrm>
          <a:prstGeom prst="rightArrow">
            <a:avLst/>
          </a:prstGeom>
          <a:solidFill>
            <a:srgbClr val="C9D1DE"/>
          </a:solidFill>
          <a:ln/>
        </p:spPr>
      </p:sp>
      <p:sp>
        <p:nvSpPr>
          <p:cNvPr id="16" name="Text 11"/>
          <p:cNvSpPr txBox="1"/>
          <p:nvPr/>
        </p:nvSpPr>
        <p:spPr>
          <a:xfrm>
            <a:off x="3831336" y="2514600"/>
            <a:ext cx="1481328"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Cammino</a:t>
            </a:r>
            <a:endParaRPr lang="en-US" sz="1500" dirty="0"/>
          </a:p>
        </p:txBody>
      </p:sp>
      <p:sp>
        <p:nvSpPr>
          <p:cNvPr id="17" name="Text 12"/>
          <p:cNvSpPr txBox="1"/>
          <p:nvPr/>
        </p:nvSpPr>
        <p:spPr>
          <a:xfrm>
            <a:off x="3831336" y="2880360"/>
            <a:ext cx="1481328" cy="100584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Segue il GPS, che resta sul telefono</a:t>
            </a:r>
            <a:endParaRPr lang="en-US" sz="1400" dirty="0"/>
          </a:p>
        </p:txBody>
      </p:sp>
      <p:sp>
        <p:nvSpPr>
          <p:cNvPr id="18" name="Shape 13"/>
          <p:cNvSpPr/>
          <p:nvPr/>
        </p:nvSpPr>
        <p:spPr>
          <a:xfrm>
            <a:off x="5847588" y="1554480"/>
            <a:ext cx="777240" cy="777240"/>
          </a:xfrm>
          <a:prstGeom prst="ellipse">
            <a:avLst/>
          </a:prstGeom>
          <a:solidFill>
            <a:srgbClr val="D7263D"/>
          </a:solidFill>
          <a:ln/>
        </p:spPr>
      </p:sp>
      <p:pic>
        <p:nvPicPr>
          <p:cNvPr id="19" name="Image 3" descr="preencoded.png">    </p:cNvPr>
          <p:cNvPicPr>
            <a:picLocks noChangeAspect="1"/>
          </p:cNvPicPr>
          <p:nvPr/>
        </p:nvPicPr>
        <p:blipFill>
          <a:blip r:embed="rId4"/>
          <a:stretch>
            <a:fillRect/>
          </a:stretch>
        </p:blipFill>
        <p:spPr>
          <a:xfrm>
            <a:off x="6018581" y="1725473"/>
            <a:ext cx="435254" cy="435254"/>
          </a:xfrm>
          <a:prstGeom prst="rect">
            <a:avLst/>
          </a:prstGeom>
        </p:spPr>
      </p:pic>
      <p:sp>
        <p:nvSpPr>
          <p:cNvPr id="20" name="Shape 14"/>
          <p:cNvSpPr/>
          <p:nvPr/>
        </p:nvSpPr>
        <p:spPr>
          <a:xfrm>
            <a:off x="6885432" y="1842516"/>
            <a:ext cx="365760" cy="201168"/>
          </a:xfrm>
          <a:prstGeom prst="rightArrow">
            <a:avLst/>
          </a:prstGeom>
          <a:solidFill>
            <a:srgbClr val="C9D1DE"/>
          </a:solidFill>
          <a:ln/>
        </p:spPr>
      </p:sp>
      <p:sp>
        <p:nvSpPr>
          <p:cNvPr id="21" name="Text 15"/>
          <p:cNvSpPr txBox="1"/>
          <p:nvPr/>
        </p:nvSpPr>
        <p:spPr>
          <a:xfrm>
            <a:off x="5495544" y="2514600"/>
            <a:ext cx="1481328"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Avvisi</a:t>
            </a:r>
            <a:endParaRPr lang="en-US" sz="1500" dirty="0"/>
          </a:p>
        </p:txBody>
      </p:sp>
      <p:sp>
        <p:nvSpPr>
          <p:cNvPr id="22" name="Text 16"/>
          <p:cNvSpPr txBox="1"/>
          <p:nvPr/>
        </p:nvSpPr>
        <p:spPr>
          <a:xfrm>
            <a:off x="5495544" y="2880360"/>
            <a:ext cx="1481328" cy="100584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Attenzione a 40 m, FERMATI a 15 m</a:t>
            </a:r>
            <a:endParaRPr lang="en-US" sz="1400" dirty="0"/>
          </a:p>
        </p:txBody>
      </p:sp>
      <p:sp>
        <p:nvSpPr>
          <p:cNvPr id="23" name="Shape 17"/>
          <p:cNvSpPr/>
          <p:nvPr/>
        </p:nvSpPr>
        <p:spPr>
          <a:xfrm>
            <a:off x="7511796" y="1554480"/>
            <a:ext cx="777240" cy="777240"/>
          </a:xfrm>
          <a:prstGeom prst="ellipse">
            <a:avLst/>
          </a:prstGeom>
          <a:solidFill>
            <a:srgbClr val="0B3D91"/>
          </a:solidFill>
          <a:ln/>
        </p:spPr>
      </p:sp>
      <p:pic>
        <p:nvPicPr>
          <p:cNvPr id="24" name="Image 4" descr="preencoded.png">    </p:cNvPr>
          <p:cNvPicPr>
            <a:picLocks noChangeAspect="1"/>
          </p:cNvPicPr>
          <p:nvPr/>
        </p:nvPicPr>
        <p:blipFill>
          <a:blip r:embed="rId5"/>
          <a:stretch>
            <a:fillRect/>
          </a:stretch>
        </p:blipFill>
        <p:spPr>
          <a:xfrm>
            <a:off x="7682789" y="1725473"/>
            <a:ext cx="435254" cy="435254"/>
          </a:xfrm>
          <a:prstGeom prst="rect">
            <a:avLst/>
          </a:prstGeom>
        </p:spPr>
      </p:pic>
      <p:sp>
        <p:nvSpPr>
          <p:cNvPr id="25" name="Text 18"/>
          <p:cNvSpPr txBox="1"/>
          <p:nvPr/>
        </p:nvSpPr>
        <p:spPr>
          <a:xfrm>
            <a:off x="7159752" y="2514600"/>
            <a:ext cx="1481328"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Arrivo</a:t>
            </a:r>
            <a:endParaRPr lang="en-US" sz="1500" dirty="0"/>
          </a:p>
        </p:txBody>
      </p:sp>
      <p:sp>
        <p:nvSpPr>
          <p:cNvPr id="26" name="Text 19"/>
          <p:cNvSpPr txBox="1"/>
          <p:nvPr/>
        </p:nvSpPr>
        <p:spPr>
          <a:xfrm>
            <a:off x="7159752" y="2880360"/>
            <a:ext cx="1481328" cy="100584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«Sei arrivato a destinazione, in sicurezza»</a:t>
            </a:r>
            <a:endParaRPr lang="en-US" sz="1400" dirty="0"/>
          </a:p>
        </p:txBody>
      </p:sp>
      <p:sp>
        <p:nvSpPr>
          <p:cNvPr id="27" name="Shape 20"/>
          <p:cNvSpPr/>
          <p:nvPr/>
        </p:nvSpPr>
        <p:spPr>
          <a:xfrm>
            <a:off x="457200" y="4023360"/>
            <a:ext cx="8229600" cy="548640"/>
          </a:xfrm>
          <a:prstGeom prst="roundRect">
            <a:avLst>
              <a:gd name="adj" fmla="val 13333"/>
            </a:avLst>
          </a:prstGeom>
          <a:solidFill>
            <a:srgbClr val="F2F4F7"/>
          </a:solidFill>
          <a:ln/>
        </p:spPr>
      </p:sp>
      <p:sp>
        <p:nvSpPr>
          <p:cNvPr id="28" name="Shape 21"/>
          <p:cNvSpPr/>
          <p:nvPr/>
        </p:nvSpPr>
        <p:spPr>
          <a:xfrm>
            <a:off x="640080" y="4087368"/>
            <a:ext cx="420624" cy="420624"/>
          </a:xfrm>
          <a:prstGeom prst="ellipse">
            <a:avLst/>
          </a:prstGeom>
          <a:solidFill>
            <a:srgbClr val="5B7FC0"/>
          </a:solidFill>
          <a:ln/>
        </p:spPr>
      </p:sp>
      <p:pic>
        <p:nvPicPr>
          <p:cNvPr id="29" name="Image 5" descr="preencoded.png">    </p:cNvPr>
          <p:cNvPicPr>
            <a:picLocks noChangeAspect="1"/>
          </p:cNvPicPr>
          <p:nvPr/>
        </p:nvPicPr>
        <p:blipFill>
          <a:blip r:embed="rId6"/>
          <a:stretch>
            <a:fillRect/>
          </a:stretch>
        </p:blipFill>
        <p:spPr>
          <a:xfrm>
            <a:off x="732617" y="4179905"/>
            <a:ext cx="235549" cy="235549"/>
          </a:xfrm>
          <a:prstGeom prst="rect">
            <a:avLst/>
          </a:prstGeom>
        </p:spPr>
      </p:pic>
      <p:sp>
        <p:nvSpPr>
          <p:cNvPr id="30" name="Text 22"/>
          <p:cNvSpPr txBox="1"/>
          <p:nvPr/>
        </p:nvSpPr>
        <p:spPr>
          <a:xfrm>
            <a:off x="1234440" y="4023360"/>
            <a:ext cx="7315200" cy="548640"/>
          </a:xfrm>
          <a:prstGeom prst="rect">
            <a:avLst/>
          </a:prstGeom>
          <a:noFill/>
          <a:ln/>
        </p:spPr>
        <p:txBody>
          <a:bodyPr wrap="square" lIns="0" tIns="0" rIns="0" bIns="0" rtlCol="0" anchor="ctr"/>
          <a:lstStyle/>
          <a:p>
            <a:pPr indent="0" marL="0">
              <a:buNone/>
            </a:pPr>
            <a:r>
              <a:rPr lang="en-US" sz="1500" dirty="0">
                <a:solidFill>
                  <a:srgbClr val="1B2333"/>
                </a:solidFill>
                <a:latin typeface="Lato" pitchFamily="34" charset="0"/>
                <a:ea typeface="Lato" pitchFamily="34" charset="-122"/>
                <a:cs typeface="Lato" pitchFamily="34" charset="-120"/>
              </a:rPr>
              <a:t>Se la persona esce dal percorso, l'app lo ricalcola da sola e lo dice a voce.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Due livelli di avviso: attenzione a 40 metri, FERMATI a 15 metri</a:t>
            </a:r>
            <a:endParaRPr lang="en-US" sz="2800" dirty="0"/>
          </a:p>
        </p:txBody>
      </p:sp>
      <p:sp>
        <p:nvSpPr>
          <p:cNvPr id="3" name="Shape 1"/>
          <p:cNvSpPr/>
          <p:nvPr/>
        </p:nvSpPr>
        <p:spPr>
          <a:xfrm>
            <a:off x="457200" y="1508760"/>
            <a:ext cx="4023360" cy="1691640"/>
          </a:xfrm>
          <a:prstGeom prst="roundRect">
            <a:avLst>
              <a:gd name="adj" fmla="val 4324"/>
            </a:avLst>
          </a:prstGeom>
          <a:solidFill>
            <a:srgbClr val="FFD200"/>
          </a:solidFill>
          <a:ln/>
        </p:spPr>
      </p:sp>
      <p:pic>
        <p:nvPicPr>
          <p:cNvPr id="4" name="Image 0" descr="preencoded.png">    </p:cNvPr>
          <p:cNvPicPr>
            <a:picLocks noChangeAspect="1"/>
          </p:cNvPicPr>
          <p:nvPr/>
        </p:nvPicPr>
        <p:blipFill>
          <a:blip r:embed="rId1"/>
          <a:stretch>
            <a:fillRect/>
          </a:stretch>
        </p:blipFill>
        <p:spPr>
          <a:xfrm>
            <a:off x="685800" y="1691640"/>
            <a:ext cx="384048" cy="384048"/>
          </a:xfrm>
          <a:prstGeom prst="rect">
            <a:avLst/>
          </a:prstGeom>
        </p:spPr>
      </p:pic>
      <p:sp>
        <p:nvSpPr>
          <p:cNvPr id="5" name="Text 2"/>
          <p:cNvSpPr txBox="1"/>
          <p:nvPr/>
        </p:nvSpPr>
        <p:spPr>
          <a:xfrm>
            <a:off x="1188720" y="1719072"/>
            <a:ext cx="3108960" cy="347472"/>
          </a:xfrm>
          <a:prstGeom prst="rect">
            <a:avLst/>
          </a:prstGeom>
          <a:noFill/>
          <a:ln/>
        </p:spPr>
        <p:txBody>
          <a:bodyPr wrap="square" lIns="0" tIns="0" rIns="0" bIns="0" rtlCol="0" anchor="ctr"/>
          <a:lstStyle/>
          <a:p>
            <a:pPr indent="0" marL="0">
              <a:buNone/>
            </a:pPr>
            <a:r>
              <a:rPr lang="en-US" sz="1500" b="1" dirty="0">
                <a:solidFill>
                  <a:srgbClr val="1B2333"/>
                </a:solidFill>
                <a:latin typeface="Montserrat" pitchFamily="34" charset="0"/>
                <a:ea typeface="Montserrat" pitchFamily="34" charset="-122"/>
                <a:cs typeface="Montserrat" pitchFamily="34" charset="-120"/>
              </a:rPr>
              <a:t>A 40 METRI · ATTENZIONE</a:t>
            </a:r>
            <a:endParaRPr lang="en-US" sz="1500" dirty="0"/>
          </a:p>
        </p:txBody>
      </p:sp>
      <p:sp>
        <p:nvSpPr>
          <p:cNvPr id="6" name="Text 3"/>
          <p:cNvSpPr txBox="1"/>
          <p:nvPr/>
        </p:nvSpPr>
        <p:spPr>
          <a:xfrm>
            <a:off x="685800" y="2240280"/>
            <a:ext cx="3611880" cy="822960"/>
          </a:xfrm>
          <a:prstGeom prst="rect">
            <a:avLst/>
          </a:prstGeom>
          <a:noFill/>
          <a:ln/>
        </p:spPr>
        <p:txBody>
          <a:bodyPr wrap="square" lIns="0" tIns="0" rIns="0" bIns="0" rtlCol="0" anchor="t"/>
          <a:lstStyle/>
          <a:p>
            <a:pPr indent="0" marL="0">
              <a:buNone/>
            </a:pPr>
            <a:r>
              <a:rPr lang="en-US" sz="1700" dirty="0">
                <a:solidFill>
                  <a:srgbClr val="1B2333"/>
                </a:solidFill>
                <a:latin typeface="Lato" pitchFamily="34" charset="0"/>
                <a:ea typeface="Lato" pitchFamily="34" charset="-122"/>
                <a:cs typeface="Lato" pitchFamily="34" charset="-120"/>
              </a:rPr>
              <a:t>«Tra poco devi attraversare Via Volta, una strada trafficata.»</a:t>
            </a:r>
            <a:endParaRPr lang="en-US" sz="1700" dirty="0"/>
          </a:p>
        </p:txBody>
      </p:sp>
      <p:sp>
        <p:nvSpPr>
          <p:cNvPr id="7" name="Shape 4"/>
          <p:cNvSpPr/>
          <p:nvPr/>
        </p:nvSpPr>
        <p:spPr>
          <a:xfrm>
            <a:off x="4663440" y="1508760"/>
            <a:ext cx="4023360" cy="1691640"/>
          </a:xfrm>
          <a:prstGeom prst="roundRect">
            <a:avLst>
              <a:gd name="adj" fmla="val 4324"/>
            </a:avLst>
          </a:prstGeom>
          <a:solidFill>
            <a:srgbClr val="D7263D"/>
          </a:solidFill>
          <a:ln/>
        </p:spPr>
      </p:sp>
      <p:pic>
        <p:nvPicPr>
          <p:cNvPr id="8" name="Image 1" descr="preencoded.png">    </p:cNvPr>
          <p:cNvPicPr>
            <a:picLocks noChangeAspect="1"/>
          </p:cNvPicPr>
          <p:nvPr/>
        </p:nvPicPr>
        <p:blipFill>
          <a:blip r:embed="rId2"/>
          <a:stretch>
            <a:fillRect/>
          </a:stretch>
        </p:blipFill>
        <p:spPr>
          <a:xfrm>
            <a:off x="4892040" y="1691640"/>
            <a:ext cx="384048" cy="384048"/>
          </a:xfrm>
          <a:prstGeom prst="rect">
            <a:avLst/>
          </a:prstGeom>
        </p:spPr>
      </p:pic>
      <p:sp>
        <p:nvSpPr>
          <p:cNvPr id="9" name="Text 5"/>
          <p:cNvSpPr txBox="1"/>
          <p:nvPr/>
        </p:nvSpPr>
        <p:spPr>
          <a:xfrm>
            <a:off x="5394960" y="1719072"/>
            <a:ext cx="3108960" cy="347472"/>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A 15 METRI · FERMATI</a:t>
            </a:r>
            <a:endParaRPr lang="en-US" sz="1500" dirty="0"/>
          </a:p>
        </p:txBody>
      </p:sp>
      <p:sp>
        <p:nvSpPr>
          <p:cNvPr id="10" name="Text 6"/>
          <p:cNvSpPr txBox="1"/>
          <p:nvPr/>
        </p:nvSpPr>
        <p:spPr>
          <a:xfrm>
            <a:off x="4892040" y="2240280"/>
            <a:ext cx="3611880" cy="822960"/>
          </a:xfrm>
          <a:prstGeom prst="rect">
            <a:avLst/>
          </a:prstGeom>
          <a:noFill/>
          <a:ln/>
        </p:spPr>
        <p:txBody>
          <a:bodyPr wrap="square" lIns="0" tIns="0" rIns="0" bIns="0" rtlCol="0" anchor="t"/>
          <a:lstStyle/>
          <a:p>
            <a:pPr indent="0" marL="0">
              <a:buNone/>
            </a:pPr>
            <a:r>
              <a:rPr lang="en-US" sz="1700" dirty="0">
                <a:solidFill>
                  <a:srgbClr val="FFFFFF"/>
                </a:solidFill>
                <a:latin typeface="Lato" pitchFamily="34" charset="0"/>
                <a:ea typeface="Lato" pitchFamily="34" charset="-122"/>
                <a:cs typeface="Lato" pitchFamily="34" charset="-120"/>
              </a:rPr>
              <a:t>«Fermati. Guarda a sinistra, poi a destra, poi ancora a sinistra.»</a:t>
            </a:r>
            <a:endParaRPr lang="en-US" sz="1700" dirty="0"/>
          </a:p>
        </p:txBody>
      </p:sp>
      <p:sp>
        <p:nvSpPr>
          <p:cNvPr id="11" name="Text 7"/>
          <p:cNvSpPr txBox="1"/>
          <p:nvPr/>
        </p:nvSpPr>
        <p:spPr>
          <a:xfrm>
            <a:off x="457200" y="3474720"/>
            <a:ext cx="8229600" cy="320040"/>
          </a:xfrm>
          <a:prstGeom prst="rect">
            <a:avLst/>
          </a:prstGeom>
          <a:noFill/>
          <a:ln/>
        </p:spPr>
        <p:txBody>
          <a:bodyPr wrap="square" lIns="0" tIns="0" rIns="0" bIns="0" rtlCol="0" anchor="t"/>
          <a:lstStyle/>
          <a:p>
            <a:pPr indent="0" marL="0">
              <a:buNone/>
            </a:pPr>
            <a:r>
              <a:rPr lang="en-US" sz="1500" b="1" dirty="0">
                <a:solidFill>
                  <a:srgbClr val="0B3D91"/>
                </a:solidFill>
                <a:latin typeface="Montserrat" pitchFamily="34" charset="0"/>
                <a:ea typeface="Montserrat" pitchFamily="34" charset="-122"/>
                <a:cs typeface="Montserrat" pitchFamily="34" charset="-120"/>
              </a:rPr>
              <a:t>Ogni avviso arriva in quattro modi, anche con il telefono in tasca</a:t>
            </a:r>
            <a:endParaRPr lang="en-US" sz="1500" dirty="0"/>
          </a:p>
        </p:txBody>
      </p:sp>
      <p:sp>
        <p:nvSpPr>
          <p:cNvPr id="12" name="Shape 8"/>
          <p:cNvSpPr/>
          <p:nvPr/>
        </p:nvSpPr>
        <p:spPr>
          <a:xfrm>
            <a:off x="457200" y="3931920"/>
            <a:ext cx="502920" cy="502920"/>
          </a:xfrm>
          <a:prstGeom prst="ellipse">
            <a:avLst/>
          </a:prstGeom>
          <a:solidFill>
            <a:srgbClr val="E8EEF8"/>
          </a:solidFill>
          <a:ln/>
        </p:spPr>
      </p:sp>
      <p:pic>
        <p:nvPicPr>
          <p:cNvPr id="13" name="Image 2" descr="preencoded.png">    </p:cNvPr>
          <p:cNvPicPr>
            <a:picLocks noChangeAspect="1"/>
          </p:cNvPicPr>
          <p:nvPr/>
        </p:nvPicPr>
        <p:blipFill>
          <a:blip r:embed="rId3"/>
          <a:stretch>
            <a:fillRect/>
          </a:stretch>
        </p:blipFill>
        <p:spPr>
          <a:xfrm>
            <a:off x="567842" y="4042562"/>
            <a:ext cx="281635" cy="281635"/>
          </a:xfrm>
          <a:prstGeom prst="rect">
            <a:avLst/>
          </a:prstGeom>
        </p:spPr>
      </p:pic>
      <p:sp>
        <p:nvSpPr>
          <p:cNvPr id="14" name="Text 9"/>
          <p:cNvSpPr txBox="1"/>
          <p:nvPr/>
        </p:nvSpPr>
        <p:spPr>
          <a:xfrm>
            <a:off x="1097280" y="3931920"/>
            <a:ext cx="1371600" cy="502920"/>
          </a:xfrm>
          <a:prstGeom prst="rect">
            <a:avLst/>
          </a:prstGeom>
          <a:noFill/>
          <a:ln/>
        </p:spPr>
        <p:txBody>
          <a:bodyPr wrap="square" lIns="0" tIns="0" rIns="0" bIns="0" rtlCol="0" anchor="ctr"/>
          <a:lstStyle/>
          <a:p>
            <a:pPr indent="0" marL="0">
              <a:buNone/>
            </a:pPr>
            <a:r>
              <a:rPr lang="en-US" sz="1500" dirty="0">
                <a:solidFill>
                  <a:srgbClr val="1B2333"/>
                </a:solidFill>
                <a:latin typeface="Lato" pitchFamily="34" charset="0"/>
                <a:ea typeface="Lato" pitchFamily="34" charset="-122"/>
                <a:cs typeface="Lato" pitchFamily="34" charset="-120"/>
              </a:rPr>
              <a:t>Voce</a:t>
            </a:r>
            <a:endParaRPr lang="en-US" sz="1500" dirty="0"/>
          </a:p>
        </p:txBody>
      </p:sp>
      <p:sp>
        <p:nvSpPr>
          <p:cNvPr id="15" name="Shape 10"/>
          <p:cNvSpPr/>
          <p:nvPr/>
        </p:nvSpPr>
        <p:spPr>
          <a:xfrm>
            <a:off x="2560320" y="3931920"/>
            <a:ext cx="502920" cy="502920"/>
          </a:xfrm>
          <a:prstGeom prst="ellipse">
            <a:avLst/>
          </a:prstGeom>
          <a:solidFill>
            <a:srgbClr val="E8EEF8"/>
          </a:solidFill>
          <a:ln/>
        </p:spPr>
      </p:sp>
      <p:pic>
        <p:nvPicPr>
          <p:cNvPr id="16" name="Image 3" descr="preencoded.png">    </p:cNvPr>
          <p:cNvPicPr>
            <a:picLocks noChangeAspect="1"/>
          </p:cNvPicPr>
          <p:nvPr/>
        </p:nvPicPr>
        <p:blipFill>
          <a:blip r:embed="rId4"/>
          <a:stretch>
            <a:fillRect/>
          </a:stretch>
        </p:blipFill>
        <p:spPr>
          <a:xfrm>
            <a:off x="2670962" y="4042562"/>
            <a:ext cx="281635" cy="281635"/>
          </a:xfrm>
          <a:prstGeom prst="rect">
            <a:avLst/>
          </a:prstGeom>
        </p:spPr>
      </p:pic>
      <p:sp>
        <p:nvSpPr>
          <p:cNvPr id="17" name="Text 11"/>
          <p:cNvSpPr txBox="1"/>
          <p:nvPr/>
        </p:nvSpPr>
        <p:spPr>
          <a:xfrm>
            <a:off x="3200400" y="3931920"/>
            <a:ext cx="1371600" cy="502920"/>
          </a:xfrm>
          <a:prstGeom prst="rect">
            <a:avLst/>
          </a:prstGeom>
          <a:noFill/>
          <a:ln/>
        </p:spPr>
        <p:txBody>
          <a:bodyPr wrap="square" lIns="0" tIns="0" rIns="0" bIns="0" rtlCol="0" anchor="ctr"/>
          <a:lstStyle/>
          <a:p>
            <a:pPr indent="0" marL="0">
              <a:buNone/>
            </a:pPr>
            <a:r>
              <a:rPr lang="en-US" sz="1500" dirty="0">
                <a:solidFill>
                  <a:srgbClr val="1B2333"/>
                </a:solidFill>
                <a:latin typeface="Lato" pitchFamily="34" charset="0"/>
                <a:ea typeface="Lato" pitchFamily="34" charset="-122"/>
                <a:cs typeface="Lato" pitchFamily="34" charset="-120"/>
              </a:rPr>
              <a:t>Vibrazione</a:t>
            </a:r>
            <a:endParaRPr lang="en-US" sz="1500" dirty="0"/>
          </a:p>
        </p:txBody>
      </p:sp>
      <p:sp>
        <p:nvSpPr>
          <p:cNvPr id="18" name="Shape 12"/>
          <p:cNvSpPr/>
          <p:nvPr/>
        </p:nvSpPr>
        <p:spPr>
          <a:xfrm>
            <a:off x="4663440" y="3931920"/>
            <a:ext cx="502920" cy="502920"/>
          </a:xfrm>
          <a:prstGeom prst="ellipse">
            <a:avLst/>
          </a:prstGeom>
          <a:solidFill>
            <a:srgbClr val="E8EEF8"/>
          </a:solidFill>
          <a:ln/>
        </p:spPr>
      </p:sp>
      <p:pic>
        <p:nvPicPr>
          <p:cNvPr id="19" name="Image 4" descr="preencoded.png">    </p:cNvPr>
          <p:cNvPicPr>
            <a:picLocks noChangeAspect="1"/>
          </p:cNvPicPr>
          <p:nvPr/>
        </p:nvPicPr>
        <p:blipFill>
          <a:blip r:embed="rId5"/>
          <a:stretch>
            <a:fillRect/>
          </a:stretch>
        </p:blipFill>
        <p:spPr>
          <a:xfrm>
            <a:off x="4774082" y="4042562"/>
            <a:ext cx="281635" cy="281635"/>
          </a:xfrm>
          <a:prstGeom prst="rect">
            <a:avLst/>
          </a:prstGeom>
        </p:spPr>
      </p:pic>
      <p:sp>
        <p:nvSpPr>
          <p:cNvPr id="20" name="Text 13"/>
          <p:cNvSpPr txBox="1"/>
          <p:nvPr/>
        </p:nvSpPr>
        <p:spPr>
          <a:xfrm>
            <a:off x="5303520" y="3931920"/>
            <a:ext cx="1371600" cy="502920"/>
          </a:xfrm>
          <a:prstGeom prst="rect">
            <a:avLst/>
          </a:prstGeom>
          <a:noFill/>
          <a:ln/>
        </p:spPr>
        <p:txBody>
          <a:bodyPr wrap="square" lIns="0" tIns="0" rIns="0" bIns="0" rtlCol="0" anchor="ctr"/>
          <a:lstStyle/>
          <a:p>
            <a:pPr indent="0" marL="0">
              <a:buNone/>
            </a:pPr>
            <a:r>
              <a:rPr lang="en-US" sz="1500" dirty="0">
                <a:solidFill>
                  <a:srgbClr val="1B2333"/>
                </a:solidFill>
                <a:latin typeface="Lato" pitchFamily="34" charset="0"/>
                <a:ea typeface="Lato" pitchFamily="34" charset="-122"/>
                <a:cs typeface="Lato" pitchFamily="34" charset="-120"/>
              </a:rPr>
              <a:t>Notifica</a:t>
            </a:r>
            <a:endParaRPr lang="en-US" sz="1500" dirty="0"/>
          </a:p>
        </p:txBody>
      </p:sp>
      <p:sp>
        <p:nvSpPr>
          <p:cNvPr id="21" name="Shape 14"/>
          <p:cNvSpPr/>
          <p:nvPr/>
        </p:nvSpPr>
        <p:spPr>
          <a:xfrm>
            <a:off x="6766560" y="3931920"/>
            <a:ext cx="502920" cy="502920"/>
          </a:xfrm>
          <a:prstGeom prst="ellipse">
            <a:avLst/>
          </a:prstGeom>
          <a:solidFill>
            <a:srgbClr val="E8EEF8"/>
          </a:solidFill>
          <a:ln/>
        </p:spPr>
      </p:sp>
      <p:pic>
        <p:nvPicPr>
          <p:cNvPr id="22" name="Image 5" descr="preencoded.png">    </p:cNvPr>
          <p:cNvPicPr>
            <a:picLocks noChangeAspect="1"/>
          </p:cNvPicPr>
          <p:nvPr/>
        </p:nvPicPr>
        <p:blipFill>
          <a:blip r:embed="rId6"/>
          <a:stretch>
            <a:fillRect/>
          </a:stretch>
        </p:blipFill>
        <p:spPr>
          <a:xfrm>
            <a:off x="6877202" y="4042562"/>
            <a:ext cx="281635" cy="281635"/>
          </a:xfrm>
          <a:prstGeom prst="rect">
            <a:avLst/>
          </a:prstGeom>
        </p:spPr>
      </p:pic>
      <p:sp>
        <p:nvSpPr>
          <p:cNvPr id="23" name="Text 15"/>
          <p:cNvSpPr txBox="1"/>
          <p:nvPr/>
        </p:nvSpPr>
        <p:spPr>
          <a:xfrm>
            <a:off x="7406640" y="3931920"/>
            <a:ext cx="1371600" cy="502920"/>
          </a:xfrm>
          <a:prstGeom prst="rect">
            <a:avLst/>
          </a:prstGeom>
          <a:noFill/>
          <a:ln/>
        </p:spPr>
        <p:txBody>
          <a:bodyPr wrap="square" lIns="0" tIns="0" rIns="0" bIns="0" rtlCol="0" anchor="ctr"/>
          <a:lstStyle/>
          <a:p>
            <a:pPr indent="0" marL="0">
              <a:buNone/>
            </a:pPr>
            <a:r>
              <a:rPr lang="en-US" sz="1500" dirty="0">
                <a:solidFill>
                  <a:srgbClr val="1B2333"/>
                </a:solidFill>
                <a:latin typeface="Lato" pitchFamily="34" charset="0"/>
                <a:ea typeface="Lato" pitchFamily="34" charset="-122"/>
                <a:cs typeface="Lato" pitchFamily="34" charset="-120"/>
              </a:rPr>
              <a:t>Schermo intero</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L'avviso scatta all'attraversamento reale, non vicino a ogni strada</a:t>
            </a:r>
            <a:endParaRPr lang="en-US" sz="2800" dirty="0"/>
          </a:p>
        </p:txBody>
      </p:sp>
      <p:sp>
        <p:nvSpPr>
          <p:cNvPr id="3" name="Shape 1"/>
          <p:cNvSpPr/>
          <p:nvPr/>
        </p:nvSpPr>
        <p:spPr>
          <a:xfrm>
            <a:off x="457200" y="2377440"/>
            <a:ext cx="3657600" cy="1005840"/>
          </a:xfrm>
          <a:prstGeom prst="rect">
            <a:avLst/>
          </a:prstGeom>
          <a:solidFill>
            <a:srgbClr val="C9D1DE"/>
          </a:solidFill>
          <a:ln/>
        </p:spPr>
      </p:sp>
      <p:sp>
        <p:nvSpPr>
          <p:cNvPr id="4" name="Shape 2"/>
          <p:cNvSpPr/>
          <p:nvPr/>
        </p:nvSpPr>
        <p:spPr>
          <a:xfrm>
            <a:off x="548640" y="2880360"/>
            <a:ext cx="3474720" cy="0"/>
          </a:xfrm>
          <a:prstGeom prst="line">
            <a:avLst/>
          </a:prstGeom>
          <a:noFill/>
          <a:ln w="25400">
            <a:solidFill>
              <a:srgbClr val="FFFFFF"/>
            </a:solidFill>
            <a:prstDash val="dash"/>
          </a:ln>
        </p:spPr>
      </p:sp>
      <p:sp>
        <p:nvSpPr>
          <p:cNvPr id="5" name="Text 3"/>
          <p:cNvSpPr txBox="1"/>
          <p:nvPr/>
        </p:nvSpPr>
        <p:spPr>
          <a:xfrm>
            <a:off x="1828800" y="2432304"/>
            <a:ext cx="2194560" cy="274320"/>
          </a:xfrm>
          <a:prstGeom prst="rect">
            <a:avLst/>
          </a:prstGeom>
          <a:noFill/>
          <a:ln/>
        </p:spPr>
        <p:txBody>
          <a:bodyPr wrap="square" lIns="0" tIns="0" rIns="0" bIns="0" rtlCol="0" anchor="t"/>
          <a:lstStyle/>
          <a:p>
            <a:pPr algn="r" indent="0" marL="0">
              <a:buNone/>
            </a:pPr>
            <a:r>
              <a:rPr lang="en-US" sz="1400" dirty="0">
                <a:solidFill>
                  <a:srgbClr val="3B4A63"/>
                </a:solidFill>
                <a:latin typeface="Lato" pitchFamily="34" charset="0"/>
                <a:ea typeface="Lato" pitchFamily="34" charset="-122"/>
                <a:cs typeface="Lato" pitchFamily="34" charset="-120"/>
              </a:rPr>
              <a:t>Strada principale · fascia di 9 m</a:t>
            </a:r>
            <a:endParaRPr lang="en-US" sz="1400" dirty="0"/>
          </a:p>
        </p:txBody>
      </p:sp>
      <p:sp>
        <p:nvSpPr>
          <p:cNvPr id="6" name="Shape 4"/>
          <p:cNvSpPr/>
          <p:nvPr/>
        </p:nvSpPr>
        <p:spPr>
          <a:xfrm>
            <a:off x="1417320" y="1600200"/>
            <a:ext cx="91440" cy="91440"/>
          </a:xfrm>
          <a:prstGeom prst="ellipse">
            <a:avLst/>
          </a:prstGeom>
          <a:solidFill>
            <a:srgbClr val="0B3D91"/>
          </a:solidFill>
          <a:ln/>
        </p:spPr>
      </p:sp>
      <p:sp>
        <p:nvSpPr>
          <p:cNvPr id="7" name="Shape 5"/>
          <p:cNvSpPr/>
          <p:nvPr/>
        </p:nvSpPr>
        <p:spPr>
          <a:xfrm>
            <a:off x="1417320" y="1783080"/>
            <a:ext cx="91440" cy="91440"/>
          </a:xfrm>
          <a:prstGeom prst="ellipse">
            <a:avLst/>
          </a:prstGeom>
          <a:solidFill>
            <a:srgbClr val="0B3D91"/>
          </a:solidFill>
          <a:ln/>
        </p:spPr>
      </p:sp>
      <p:sp>
        <p:nvSpPr>
          <p:cNvPr id="8" name="Shape 6"/>
          <p:cNvSpPr/>
          <p:nvPr/>
        </p:nvSpPr>
        <p:spPr>
          <a:xfrm>
            <a:off x="1417320" y="1965960"/>
            <a:ext cx="91440" cy="91440"/>
          </a:xfrm>
          <a:prstGeom prst="ellipse">
            <a:avLst/>
          </a:prstGeom>
          <a:solidFill>
            <a:srgbClr val="0B3D91"/>
          </a:solidFill>
          <a:ln/>
        </p:spPr>
      </p:sp>
      <p:sp>
        <p:nvSpPr>
          <p:cNvPr id="9" name="Shape 7"/>
          <p:cNvSpPr/>
          <p:nvPr/>
        </p:nvSpPr>
        <p:spPr>
          <a:xfrm>
            <a:off x="1417320" y="2148840"/>
            <a:ext cx="91440" cy="91440"/>
          </a:xfrm>
          <a:prstGeom prst="ellipse">
            <a:avLst/>
          </a:prstGeom>
          <a:solidFill>
            <a:srgbClr val="0B3D91"/>
          </a:solidFill>
          <a:ln/>
        </p:spPr>
      </p:sp>
      <p:sp>
        <p:nvSpPr>
          <p:cNvPr id="10" name="Shape 8"/>
          <p:cNvSpPr/>
          <p:nvPr/>
        </p:nvSpPr>
        <p:spPr>
          <a:xfrm>
            <a:off x="1417320" y="2331720"/>
            <a:ext cx="91440" cy="91440"/>
          </a:xfrm>
          <a:prstGeom prst="ellipse">
            <a:avLst/>
          </a:prstGeom>
          <a:solidFill>
            <a:srgbClr val="0B3D91"/>
          </a:solidFill>
          <a:ln/>
        </p:spPr>
      </p:sp>
      <p:sp>
        <p:nvSpPr>
          <p:cNvPr id="11" name="Shape 9"/>
          <p:cNvSpPr/>
          <p:nvPr/>
        </p:nvSpPr>
        <p:spPr>
          <a:xfrm>
            <a:off x="1417320" y="2514600"/>
            <a:ext cx="91440" cy="91440"/>
          </a:xfrm>
          <a:prstGeom prst="ellipse">
            <a:avLst/>
          </a:prstGeom>
          <a:solidFill>
            <a:srgbClr val="0B3D91"/>
          </a:solidFill>
          <a:ln/>
        </p:spPr>
      </p:sp>
      <p:sp>
        <p:nvSpPr>
          <p:cNvPr id="12" name="Shape 10"/>
          <p:cNvSpPr/>
          <p:nvPr/>
        </p:nvSpPr>
        <p:spPr>
          <a:xfrm>
            <a:off x="1417320" y="2697480"/>
            <a:ext cx="91440" cy="91440"/>
          </a:xfrm>
          <a:prstGeom prst="ellipse">
            <a:avLst/>
          </a:prstGeom>
          <a:solidFill>
            <a:srgbClr val="0B3D91"/>
          </a:solidFill>
          <a:ln/>
        </p:spPr>
      </p:sp>
      <p:sp>
        <p:nvSpPr>
          <p:cNvPr id="13" name="Shape 11"/>
          <p:cNvSpPr/>
          <p:nvPr/>
        </p:nvSpPr>
        <p:spPr>
          <a:xfrm>
            <a:off x="1417320" y="2880360"/>
            <a:ext cx="91440" cy="91440"/>
          </a:xfrm>
          <a:prstGeom prst="ellipse">
            <a:avLst/>
          </a:prstGeom>
          <a:solidFill>
            <a:srgbClr val="0B3D91"/>
          </a:solidFill>
          <a:ln/>
        </p:spPr>
      </p:sp>
      <p:sp>
        <p:nvSpPr>
          <p:cNvPr id="14" name="Shape 12"/>
          <p:cNvSpPr/>
          <p:nvPr/>
        </p:nvSpPr>
        <p:spPr>
          <a:xfrm>
            <a:off x="1417320" y="3063240"/>
            <a:ext cx="91440" cy="91440"/>
          </a:xfrm>
          <a:prstGeom prst="ellipse">
            <a:avLst/>
          </a:prstGeom>
          <a:solidFill>
            <a:srgbClr val="0B3D91"/>
          </a:solidFill>
          <a:ln/>
        </p:spPr>
      </p:sp>
      <p:sp>
        <p:nvSpPr>
          <p:cNvPr id="15" name="Shape 13"/>
          <p:cNvSpPr/>
          <p:nvPr/>
        </p:nvSpPr>
        <p:spPr>
          <a:xfrm>
            <a:off x="1417320" y="3246120"/>
            <a:ext cx="91440" cy="91440"/>
          </a:xfrm>
          <a:prstGeom prst="ellipse">
            <a:avLst/>
          </a:prstGeom>
          <a:solidFill>
            <a:srgbClr val="0B3D91"/>
          </a:solidFill>
          <a:ln/>
        </p:spPr>
      </p:sp>
      <p:sp>
        <p:nvSpPr>
          <p:cNvPr id="16" name="Shape 14"/>
          <p:cNvSpPr/>
          <p:nvPr/>
        </p:nvSpPr>
        <p:spPr>
          <a:xfrm>
            <a:off x="1417320" y="3429000"/>
            <a:ext cx="91440" cy="91440"/>
          </a:xfrm>
          <a:prstGeom prst="ellipse">
            <a:avLst/>
          </a:prstGeom>
          <a:solidFill>
            <a:srgbClr val="0B3D91"/>
          </a:solidFill>
          <a:ln/>
        </p:spPr>
      </p:sp>
      <p:sp>
        <p:nvSpPr>
          <p:cNvPr id="17" name="Shape 15"/>
          <p:cNvSpPr/>
          <p:nvPr/>
        </p:nvSpPr>
        <p:spPr>
          <a:xfrm>
            <a:off x="1417320" y="3611880"/>
            <a:ext cx="91440" cy="91440"/>
          </a:xfrm>
          <a:prstGeom prst="ellipse">
            <a:avLst/>
          </a:prstGeom>
          <a:solidFill>
            <a:srgbClr val="0B3D91"/>
          </a:solidFill>
          <a:ln/>
        </p:spPr>
      </p:sp>
      <p:sp>
        <p:nvSpPr>
          <p:cNvPr id="18" name="Shape 16"/>
          <p:cNvSpPr/>
          <p:nvPr/>
        </p:nvSpPr>
        <p:spPr>
          <a:xfrm>
            <a:off x="1417320" y="3794760"/>
            <a:ext cx="91440" cy="91440"/>
          </a:xfrm>
          <a:prstGeom prst="ellipse">
            <a:avLst/>
          </a:prstGeom>
          <a:solidFill>
            <a:srgbClr val="0B3D91"/>
          </a:solidFill>
          <a:ln/>
        </p:spPr>
      </p:sp>
      <p:sp>
        <p:nvSpPr>
          <p:cNvPr id="19" name="Shape 17"/>
          <p:cNvSpPr/>
          <p:nvPr/>
        </p:nvSpPr>
        <p:spPr>
          <a:xfrm>
            <a:off x="1417320" y="3977640"/>
            <a:ext cx="91440" cy="91440"/>
          </a:xfrm>
          <a:prstGeom prst="ellipse">
            <a:avLst/>
          </a:prstGeom>
          <a:solidFill>
            <a:srgbClr val="0B3D91"/>
          </a:solidFill>
          <a:ln/>
        </p:spPr>
      </p:sp>
      <p:sp>
        <p:nvSpPr>
          <p:cNvPr id="20" name="Shape 18"/>
          <p:cNvSpPr/>
          <p:nvPr/>
        </p:nvSpPr>
        <p:spPr>
          <a:xfrm>
            <a:off x="1417320" y="4160520"/>
            <a:ext cx="91440" cy="91440"/>
          </a:xfrm>
          <a:prstGeom prst="ellipse">
            <a:avLst/>
          </a:prstGeom>
          <a:solidFill>
            <a:srgbClr val="0B3D91"/>
          </a:solidFill>
          <a:ln/>
        </p:spPr>
      </p:sp>
      <p:sp>
        <p:nvSpPr>
          <p:cNvPr id="21" name="Shape 19"/>
          <p:cNvSpPr/>
          <p:nvPr/>
        </p:nvSpPr>
        <p:spPr>
          <a:xfrm>
            <a:off x="1307592" y="2221992"/>
            <a:ext cx="310896" cy="310896"/>
          </a:xfrm>
          <a:prstGeom prst="ellipse">
            <a:avLst/>
          </a:prstGeom>
          <a:solidFill>
            <a:srgbClr val="D7263D"/>
          </a:solidFill>
          <a:ln w="25400">
            <a:solidFill>
              <a:srgbClr val="FFFFFF"/>
            </a:solidFill>
            <a:prstDash val="solid"/>
          </a:ln>
        </p:spPr>
      </p:sp>
      <p:sp>
        <p:nvSpPr>
          <p:cNvPr id="22" name="Text 20"/>
          <p:cNvSpPr txBox="1"/>
          <p:nvPr/>
        </p:nvSpPr>
        <p:spPr>
          <a:xfrm>
            <a:off x="1691640" y="1691640"/>
            <a:ext cx="2377440" cy="292608"/>
          </a:xfrm>
          <a:prstGeom prst="rect">
            <a:avLst/>
          </a:prstGeom>
          <a:noFill/>
          <a:ln/>
        </p:spPr>
        <p:txBody>
          <a:bodyPr wrap="square" lIns="0" tIns="0" rIns="0" bIns="0" rtlCol="0" anchor="t"/>
          <a:lstStyle/>
          <a:p>
            <a:pPr indent="0" marL="0">
              <a:buNone/>
            </a:pPr>
            <a:r>
              <a:rPr lang="en-US" sz="1400" b="1" dirty="0">
                <a:solidFill>
                  <a:srgbClr val="D7263D"/>
                </a:solidFill>
                <a:latin typeface="Montserrat" pitchFamily="34" charset="0"/>
                <a:ea typeface="Montserrat" pitchFamily="34" charset="-122"/>
                <a:cs typeface="Montserrat" pitchFamily="34" charset="-120"/>
              </a:rPr>
              <a:t>Attraversa: «FERMATI»</a:t>
            </a:r>
            <a:endParaRPr lang="en-US" sz="1400" dirty="0"/>
          </a:p>
        </p:txBody>
      </p:sp>
      <p:sp>
        <p:nvSpPr>
          <p:cNvPr id="23" name="Shape 21"/>
          <p:cNvSpPr/>
          <p:nvPr/>
        </p:nvSpPr>
        <p:spPr>
          <a:xfrm>
            <a:off x="2103120" y="3657600"/>
            <a:ext cx="91440" cy="91440"/>
          </a:xfrm>
          <a:prstGeom prst="ellipse">
            <a:avLst/>
          </a:prstGeom>
          <a:solidFill>
            <a:srgbClr val="8A96A8"/>
          </a:solidFill>
          <a:ln/>
        </p:spPr>
      </p:sp>
      <p:sp>
        <p:nvSpPr>
          <p:cNvPr id="24" name="Shape 22"/>
          <p:cNvSpPr/>
          <p:nvPr/>
        </p:nvSpPr>
        <p:spPr>
          <a:xfrm>
            <a:off x="2286000" y="3657600"/>
            <a:ext cx="91440" cy="91440"/>
          </a:xfrm>
          <a:prstGeom prst="ellipse">
            <a:avLst/>
          </a:prstGeom>
          <a:solidFill>
            <a:srgbClr val="8A96A8"/>
          </a:solidFill>
          <a:ln/>
        </p:spPr>
      </p:sp>
      <p:sp>
        <p:nvSpPr>
          <p:cNvPr id="25" name="Shape 23"/>
          <p:cNvSpPr/>
          <p:nvPr/>
        </p:nvSpPr>
        <p:spPr>
          <a:xfrm>
            <a:off x="2468880" y="3657600"/>
            <a:ext cx="91440" cy="91440"/>
          </a:xfrm>
          <a:prstGeom prst="ellipse">
            <a:avLst/>
          </a:prstGeom>
          <a:solidFill>
            <a:srgbClr val="8A96A8"/>
          </a:solidFill>
          <a:ln/>
        </p:spPr>
      </p:sp>
      <p:sp>
        <p:nvSpPr>
          <p:cNvPr id="26" name="Shape 24"/>
          <p:cNvSpPr/>
          <p:nvPr/>
        </p:nvSpPr>
        <p:spPr>
          <a:xfrm>
            <a:off x="2651760" y="3657600"/>
            <a:ext cx="91440" cy="91440"/>
          </a:xfrm>
          <a:prstGeom prst="ellipse">
            <a:avLst/>
          </a:prstGeom>
          <a:solidFill>
            <a:srgbClr val="8A96A8"/>
          </a:solidFill>
          <a:ln/>
        </p:spPr>
      </p:sp>
      <p:sp>
        <p:nvSpPr>
          <p:cNvPr id="27" name="Shape 25"/>
          <p:cNvSpPr/>
          <p:nvPr/>
        </p:nvSpPr>
        <p:spPr>
          <a:xfrm>
            <a:off x="2834640" y="3657600"/>
            <a:ext cx="91440" cy="91440"/>
          </a:xfrm>
          <a:prstGeom prst="ellipse">
            <a:avLst/>
          </a:prstGeom>
          <a:solidFill>
            <a:srgbClr val="8A96A8"/>
          </a:solidFill>
          <a:ln/>
        </p:spPr>
      </p:sp>
      <p:sp>
        <p:nvSpPr>
          <p:cNvPr id="28" name="Shape 26"/>
          <p:cNvSpPr/>
          <p:nvPr/>
        </p:nvSpPr>
        <p:spPr>
          <a:xfrm>
            <a:off x="3017520" y="3657600"/>
            <a:ext cx="91440" cy="91440"/>
          </a:xfrm>
          <a:prstGeom prst="ellipse">
            <a:avLst/>
          </a:prstGeom>
          <a:solidFill>
            <a:srgbClr val="8A96A8"/>
          </a:solidFill>
          <a:ln/>
        </p:spPr>
      </p:sp>
      <p:sp>
        <p:nvSpPr>
          <p:cNvPr id="29" name="Shape 27"/>
          <p:cNvSpPr/>
          <p:nvPr/>
        </p:nvSpPr>
        <p:spPr>
          <a:xfrm>
            <a:off x="3200400" y="3657600"/>
            <a:ext cx="91440" cy="91440"/>
          </a:xfrm>
          <a:prstGeom prst="ellipse">
            <a:avLst/>
          </a:prstGeom>
          <a:solidFill>
            <a:srgbClr val="8A96A8"/>
          </a:solidFill>
          <a:ln/>
        </p:spPr>
      </p:sp>
      <p:sp>
        <p:nvSpPr>
          <p:cNvPr id="30" name="Shape 28"/>
          <p:cNvSpPr/>
          <p:nvPr/>
        </p:nvSpPr>
        <p:spPr>
          <a:xfrm>
            <a:off x="3383280" y="3657600"/>
            <a:ext cx="91440" cy="91440"/>
          </a:xfrm>
          <a:prstGeom prst="ellipse">
            <a:avLst/>
          </a:prstGeom>
          <a:solidFill>
            <a:srgbClr val="8A96A8"/>
          </a:solidFill>
          <a:ln/>
        </p:spPr>
      </p:sp>
      <p:sp>
        <p:nvSpPr>
          <p:cNvPr id="31" name="Shape 29"/>
          <p:cNvSpPr/>
          <p:nvPr/>
        </p:nvSpPr>
        <p:spPr>
          <a:xfrm>
            <a:off x="3566160" y="3657600"/>
            <a:ext cx="91440" cy="91440"/>
          </a:xfrm>
          <a:prstGeom prst="ellipse">
            <a:avLst/>
          </a:prstGeom>
          <a:solidFill>
            <a:srgbClr val="8A96A8"/>
          </a:solidFill>
          <a:ln/>
        </p:spPr>
      </p:sp>
      <p:sp>
        <p:nvSpPr>
          <p:cNvPr id="32" name="Shape 30"/>
          <p:cNvSpPr/>
          <p:nvPr/>
        </p:nvSpPr>
        <p:spPr>
          <a:xfrm>
            <a:off x="3749040" y="3657600"/>
            <a:ext cx="91440" cy="91440"/>
          </a:xfrm>
          <a:prstGeom prst="ellipse">
            <a:avLst/>
          </a:prstGeom>
          <a:solidFill>
            <a:srgbClr val="8A96A8"/>
          </a:solidFill>
          <a:ln/>
        </p:spPr>
      </p:sp>
      <p:sp>
        <p:nvSpPr>
          <p:cNvPr id="33" name="Shape 31"/>
          <p:cNvSpPr/>
          <p:nvPr/>
        </p:nvSpPr>
        <p:spPr>
          <a:xfrm>
            <a:off x="3931920" y="3657600"/>
            <a:ext cx="91440" cy="91440"/>
          </a:xfrm>
          <a:prstGeom prst="ellipse">
            <a:avLst/>
          </a:prstGeom>
          <a:solidFill>
            <a:srgbClr val="8A96A8"/>
          </a:solidFill>
          <a:ln/>
        </p:spPr>
      </p:sp>
      <p:sp>
        <p:nvSpPr>
          <p:cNvPr id="34" name="Text 32"/>
          <p:cNvSpPr txBox="1"/>
          <p:nvPr/>
        </p:nvSpPr>
        <p:spPr>
          <a:xfrm>
            <a:off x="1828800" y="3840480"/>
            <a:ext cx="2286000" cy="502920"/>
          </a:xfrm>
          <a:prstGeom prst="rect">
            <a:avLst/>
          </a:prstGeom>
          <a:noFill/>
          <a:ln/>
        </p:spPr>
        <p:txBody>
          <a:bodyPr wrap="square" lIns="0" tIns="0" rIns="0" bIns="0" rtlCol="0" anchor="t"/>
          <a:lstStyle/>
          <a:p>
            <a:pPr indent="0" marL="0">
              <a:buNone/>
            </a:pPr>
            <a:r>
              <a:rPr lang="en-US" sz="1400" dirty="0">
                <a:solidFill>
                  <a:srgbClr val="5B6B85"/>
                </a:solidFill>
                <a:latin typeface="Lato" pitchFamily="34" charset="0"/>
                <a:ea typeface="Lato" pitchFamily="34" charset="-122"/>
                <a:cs typeface="Lato" pitchFamily="34" charset="-120"/>
              </a:rPr>
              <a:t>Costeggia: solo «resta sul marciapiede»</a:t>
            </a:r>
            <a:endParaRPr lang="en-US" sz="1400" dirty="0"/>
          </a:p>
        </p:txBody>
      </p:sp>
      <p:sp>
        <p:nvSpPr>
          <p:cNvPr id="35" name="Text 33"/>
          <p:cNvSpPr txBox="1"/>
          <p:nvPr/>
        </p:nvSpPr>
        <p:spPr>
          <a:xfrm>
            <a:off x="4480560" y="1508760"/>
            <a:ext cx="4206240" cy="320040"/>
          </a:xfrm>
          <a:prstGeom prst="rect">
            <a:avLst/>
          </a:prstGeom>
          <a:noFill/>
          <a:ln/>
        </p:spPr>
        <p:txBody>
          <a:bodyPr wrap="square" lIns="0" tIns="0" rIns="0" bIns="0" rtlCol="0" anchor="t"/>
          <a:lstStyle/>
          <a:p>
            <a:pPr indent="0" marL="0">
              <a:buNone/>
            </a:pPr>
            <a:r>
              <a:rPr lang="en-US" sz="1600" b="1" dirty="0">
                <a:solidFill>
                  <a:srgbClr val="0B3D91"/>
                </a:solidFill>
                <a:latin typeface="Montserrat" pitchFamily="34" charset="0"/>
                <a:ea typeface="Montserrat" pitchFamily="34" charset="-122"/>
                <a:cs typeface="Montserrat" pitchFamily="34" charset="-120"/>
              </a:rPr>
              <a:t>Quattro fonti lungo il percorso</a:t>
            </a:r>
            <a:endParaRPr lang="en-US" sz="1600" dirty="0"/>
          </a:p>
        </p:txBody>
      </p:sp>
      <p:sp>
        <p:nvSpPr>
          <p:cNvPr id="36" name="Shape 34"/>
          <p:cNvSpPr/>
          <p:nvPr/>
        </p:nvSpPr>
        <p:spPr>
          <a:xfrm>
            <a:off x="4480560" y="1975104"/>
            <a:ext cx="420624" cy="420624"/>
          </a:xfrm>
          <a:prstGeom prst="ellipse">
            <a:avLst/>
          </a:prstGeom>
          <a:solidFill>
            <a:srgbClr val="0B3D91"/>
          </a:solidFill>
          <a:ln/>
        </p:spPr>
      </p:sp>
      <p:pic>
        <p:nvPicPr>
          <p:cNvPr id="37" name="Image 0" descr="preencoded.png">    </p:cNvPr>
          <p:cNvPicPr>
            <a:picLocks noChangeAspect="1"/>
          </p:cNvPicPr>
          <p:nvPr/>
        </p:nvPicPr>
        <p:blipFill>
          <a:blip r:embed="rId1"/>
          <a:stretch>
            <a:fillRect/>
          </a:stretch>
        </p:blipFill>
        <p:spPr>
          <a:xfrm>
            <a:off x="4573097" y="2067641"/>
            <a:ext cx="235549" cy="235549"/>
          </a:xfrm>
          <a:prstGeom prst="rect">
            <a:avLst/>
          </a:prstGeom>
        </p:spPr>
      </p:pic>
      <p:sp>
        <p:nvSpPr>
          <p:cNvPr id="38" name="Text 35"/>
          <p:cNvSpPr txBox="1"/>
          <p:nvPr/>
        </p:nvSpPr>
        <p:spPr>
          <a:xfrm>
            <a:off x="5029200" y="1938528"/>
            <a:ext cx="3657600" cy="548640"/>
          </a:xfrm>
          <a:prstGeom prst="rect">
            <a:avLst/>
          </a:prstGeom>
          <a:noFill/>
          <a:ln/>
        </p:spPr>
        <p:txBody>
          <a:bodyPr wrap="square" lIns="0" tIns="0" rIns="0" bIns="0" rtlCol="0" anchor="t"/>
          <a:lstStyle/>
          <a:p>
            <a:pPr indent="0" marL="0">
              <a:buNone/>
            </a:pPr>
            <a:r>
              <a:rPr lang="en-US" sz="1400" b="1" dirty="0">
                <a:solidFill>
                  <a:srgbClr val="1B2333"/>
                </a:solidFill>
                <a:latin typeface="Lato" pitchFamily="34" charset="0"/>
                <a:ea typeface="Lato" pitchFamily="34" charset="-122"/>
                <a:cs typeface="Lato" pitchFamily="34" charset="-120"/>
              </a:rPr>
              <a:t>Strade principali (OpenStreetMap)</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statali, provinciali e trafficate</a:t>
            </a:r>
            <a:endParaRPr lang="en-US" sz="1400" dirty="0"/>
          </a:p>
        </p:txBody>
      </p:sp>
      <p:sp>
        <p:nvSpPr>
          <p:cNvPr id="39" name="Shape 36"/>
          <p:cNvSpPr/>
          <p:nvPr/>
        </p:nvSpPr>
        <p:spPr>
          <a:xfrm>
            <a:off x="4480560" y="2578608"/>
            <a:ext cx="420624" cy="420624"/>
          </a:xfrm>
          <a:prstGeom prst="ellipse">
            <a:avLst/>
          </a:prstGeom>
          <a:solidFill>
            <a:srgbClr val="0B3D91"/>
          </a:solidFill>
          <a:ln/>
        </p:spPr>
      </p:sp>
      <p:pic>
        <p:nvPicPr>
          <p:cNvPr id="40" name="Image 1" descr="preencoded.png">    </p:cNvPr>
          <p:cNvPicPr>
            <a:picLocks noChangeAspect="1"/>
          </p:cNvPicPr>
          <p:nvPr/>
        </p:nvPicPr>
        <p:blipFill>
          <a:blip r:embed="rId2"/>
          <a:stretch>
            <a:fillRect/>
          </a:stretch>
        </p:blipFill>
        <p:spPr>
          <a:xfrm>
            <a:off x="4573097" y="2671145"/>
            <a:ext cx="235549" cy="235549"/>
          </a:xfrm>
          <a:prstGeom prst="rect">
            <a:avLst/>
          </a:prstGeom>
        </p:spPr>
      </p:pic>
      <p:sp>
        <p:nvSpPr>
          <p:cNvPr id="41" name="Text 37"/>
          <p:cNvSpPr txBox="1"/>
          <p:nvPr/>
        </p:nvSpPr>
        <p:spPr>
          <a:xfrm>
            <a:off x="5029200" y="2542032"/>
            <a:ext cx="3657600" cy="548640"/>
          </a:xfrm>
          <a:prstGeom prst="rect">
            <a:avLst/>
          </a:prstGeom>
          <a:noFill/>
          <a:ln/>
        </p:spPr>
        <p:txBody>
          <a:bodyPr wrap="square" lIns="0" tIns="0" rIns="0" bIns="0" rtlCol="0" anchor="t"/>
          <a:lstStyle/>
          <a:p>
            <a:pPr indent="0" marL="0">
              <a:buNone/>
            </a:pPr>
            <a:r>
              <a:rPr lang="en-US" sz="1400" b="1" dirty="0">
                <a:solidFill>
                  <a:srgbClr val="1B2333"/>
                </a:solidFill>
                <a:latin typeface="Lato" pitchFamily="34" charset="0"/>
                <a:ea typeface="Lato" pitchFamily="34" charset="-122"/>
                <a:cs typeface="Lato" pitchFamily="34" charset="-120"/>
              </a:rPr>
              <a:t>Strisce e semafori (OpenStreetMap)</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«usa le strisce», «aspetta il verde»</a:t>
            </a:r>
            <a:endParaRPr lang="en-US" sz="1400" dirty="0"/>
          </a:p>
        </p:txBody>
      </p:sp>
      <p:sp>
        <p:nvSpPr>
          <p:cNvPr id="42" name="Shape 38"/>
          <p:cNvSpPr/>
          <p:nvPr/>
        </p:nvSpPr>
        <p:spPr>
          <a:xfrm>
            <a:off x="4480560" y="3182112"/>
            <a:ext cx="420624" cy="420624"/>
          </a:xfrm>
          <a:prstGeom prst="ellipse">
            <a:avLst/>
          </a:prstGeom>
          <a:solidFill>
            <a:srgbClr val="0B3D91"/>
          </a:solidFill>
          <a:ln/>
        </p:spPr>
      </p:sp>
      <p:pic>
        <p:nvPicPr>
          <p:cNvPr id="43" name="Image 2" descr="preencoded.png">    </p:cNvPr>
          <p:cNvPicPr>
            <a:picLocks noChangeAspect="1"/>
          </p:cNvPicPr>
          <p:nvPr/>
        </p:nvPicPr>
        <p:blipFill>
          <a:blip r:embed="rId3"/>
          <a:stretch>
            <a:fillRect/>
          </a:stretch>
        </p:blipFill>
        <p:spPr>
          <a:xfrm>
            <a:off x="4573097" y="3274649"/>
            <a:ext cx="235549" cy="235549"/>
          </a:xfrm>
          <a:prstGeom prst="rect">
            <a:avLst/>
          </a:prstGeom>
        </p:spPr>
      </p:pic>
      <p:sp>
        <p:nvSpPr>
          <p:cNvPr id="44" name="Text 39"/>
          <p:cNvSpPr txBox="1"/>
          <p:nvPr/>
        </p:nvSpPr>
        <p:spPr>
          <a:xfrm>
            <a:off x="5029200" y="3145536"/>
            <a:ext cx="3657600" cy="548640"/>
          </a:xfrm>
          <a:prstGeom prst="rect">
            <a:avLst/>
          </a:prstGeom>
          <a:noFill/>
          <a:ln/>
        </p:spPr>
        <p:txBody>
          <a:bodyPr wrap="square" lIns="0" tIns="0" rIns="0" bIns="0" rtlCol="0" anchor="t"/>
          <a:lstStyle/>
          <a:p>
            <a:pPr indent="0" marL="0">
              <a:buNone/>
            </a:pPr>
            <a:r>
              <a:rPr lang="en-US" sz="1400" b="1" dirty="0">
                <a:solidFill>
                  <a:srgbClr val="1B2333"/>
                </a:solidFill>
                <a:latin typeface="Lato" pitchFamily="34" charset="0"/>
                <a:ea typeface="Lato" pitchFamily="34" charset="-122"/>
                <a:cs typeface="Lato" pitchFamily="34" charset="-120"/>
              </a:rPr>
              <a:t>Incroci con svolta</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dalle istruzioni di navigazione</a:t>
            </a:r>
            <a:endParaRPr lang="en-US" sz="1400" dirty="0"/>
          </a:p>
        </p:txBody>
      </p:sp>
      <p:sp>
        <p:nvSpPr>
          <p:cNvPr id="45" name="Shape 40"/>
          <p:cNvSpPr/>
          <p:nvPr/>
        </p:nvSpPr>
        <p:spPr>
          <a:xfrm>
            <a:off x="4480560" y="3785616"/>
            <a:ext cx="420624" cy="420624"/>
          </a:xfrm>
          <a:prstGeom prst="ellipse">
            <a:avLst/>
          </a:prstGeom>
          <a:solidFill>
            <a:srgbClr val="0B3D91"/>
          </a:solidFill>
          <a:ln/>
        </p:spPr>
      </p:sp>
      <p:pic>
        <p:nvPicPr>
          <p:cNvPr id="46" name="Image 3" descr="preencoded.png">    </p:cNvPr>
          <p:cNvPicPr>
            <a:picLocks noChangeAspect="1"/>
          </p:cNvPicPr>
          <p:nvPr/>
        </p:nvPicPr>
        <p:blipFill>
          <a:blip r:embed="rId4"/>
          <a:stretch>
            <a:fillRect/>
          </a:stretch>
        </p:blipFill>
        <p:spPr>
          <a:xfrm>
            <a:off x="4573097" y="3878153"/>
            <a:ext cx="235549" cy="235549"/>
          </a:xfrm>
          <a:prstGeom prst="rect">
            <a:avLst/>
          </a:prstGeom>
        </p:spPr>
      </p:pic>
      <p:sp>
        <p:nvSpPr>
          <p:cNvPr id="47" name="Text 41"/>
          <p:cNvSpPr txBox="1"/>
          <p:nvPr/>
        </p:nvSpPr>
        <p:spPr>
          <a:xfrm>
            <a:off x="5029200" y="3749040"/>
            <a:ext cx="3657600" cy="548640"/>
          </a:xfrm>
          <a:prstGeom prst="rect">
            <a:avLst/>
          </a:prstGeom>
          <a:noFill/>
          <a:ln/>
        </p:spPr>
        <p:txBody>
          <a:bodyPr wrap="square" lIns="0" tIns="0" rIns="0" bIns="0" rtlCol="0" anchor="t"/>
          <a:lstStyle/>
          <a:p>
            <a:pPr indent="0" marL="0">
              <a:buNone/>
            </a:pPr>
            <a:r>
              <a:rPr lang="en-US" sz="1400" b="1" dirty="0">
                <a:solidFill>
                  <a:srgbClr val="1B2333"/>
                </a:solidFill>
                <a:latin typeface="Lato" pitchFamily="34" charset="0"/>
                <a:ea typeface="Lato" pitchFamily="34" charset="-122"/>
                <a:cs typeface="Lato" pitchFamily="34" charset="-120"/>
              </a:rPr>
              <a:t>Cantieri e incidenti (TomTom)</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se a meno di 25 m dal percorso</a:t>
            </a:r>
            <a:endParaRPr lang="en-US" sz="1400" dirty="0"/>
          </a:p>
        </p:txBody>
      </p:sp>
      <p:sp>
        <p:nvSpPr>
          <p:cNvPr id="48" name="Text 42"/>
          <p:cNvSpPr txBox="1"/>
          <p:nvPr/>
        </p:nvSpPr>
        <p:spPr>
          <a:xfrm>
            <a:off x="4480560" y="4389120"/>
            <a:ext cx="4206240" cy="365760"/>
          </a:xfrm>
          <a:prstGeom prst="rect">
            <a:avLst/>
          </a:prstGeom>
          <a:noFill/>
          <a:ln/>
        </p:spPr>
        <p:txBody>
          <a:bodyPr wrap="square" lIns="0" tIns="0" rIns="0" bIns="0" rtlCol="0" anchor="t"/>
          <a:lstStyle/>
          <a:p>
            <a:pPr indent="0" marL="0">
              <a:buNone/>
            </a:pPr>
            <a:r>
              <a:rPr lang="en-US" sz="1400" i="1" dirty="0">
                <a:solidFill>
                  <a:srgbClr val="5B6B85"/>
                </a:solidFill>
                <a:latin typeface="Lato" pitchFamily="34" charset="0"/>
                <a:ea typeface="Lato" pitchFamily="34" charset="-122"/>
                <a:cs typeface="Lato" pitchFamily="34" charset="-120"/>
              </a:rPr>
              <a:t>Senza rete, uno snapshot OpenStreetMap del comune tiene attivi gli avvisi.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Si usa con un solo pulsante e la voce, senza mappe né tastiera</a:t>
            </a:r>
            <a:endParaRPr lang="en-US" sz="2800" dirty="0"/>
          </a:p>
        </p:txBody>
      </p:sp>
      <p:sp>
        <p:nvSpPr>
          <p:cNvPr id="3" name="Shape 1"/>
          <p:cNvSpPr/>
          <p:nvPr/>
        </p:nvSpPr>
        <p:spPr>
          <a:xfrm>
            <a:off x="457200" y="1508760"/>
            <a:ext cx="2560320" cy="1417320"/>
          </a:xfrm>
          <a:prstGeom prst="roundRect">
            <a:avLst>
              <a:gd name="adj" fmla="val 5161"/>
            </a:avLst>
          </a:prstGeom>
          <a:solidFill>
            <a:srgbClr val="E8EEF8"/>
          </a:solidFill>
          <a:ln/>
        </p:spPr>
      </p:sp>
      <p:sp>
        <p:nvSpPr>
          <p:cNvPr id="4" name="Shape 2"/>
          <p:cNvSpPr/>
          <p:nvPr/>
        </p:nvSpPr>
        <p:spPr>
          <a:xfrm>
            <a:off x="640080" y="1691640"/>
            <a:ext cx="457200" cy="457200"/>
          </a:xfrm>
          <a:prstGeom prst="ellipse">
            <a:avLst/>
          </a:prstGeom>
          <a:solidFill>
            <a:srgbClr val="0B3D91"/>
          </a:solidFill>
          <a:ln/>
        </p:spPr>
      </p:sp>
      <p:pic>
        <p:nvPicPr>
          <p:cNvPr id="5" name="Image 0" descr="preencoded.png">    </p:cNvPr>
          <p:cNvPicPr>
            <a:picLocks noChangeAspect="1"/>
          </p:cNvPicPr>
          <p:nvPr/>
        </p:nvPicPr>
        <p:blipFill>
          <a:blip r:embed="rId1"/>
          <a:stretch>
            <a:fillRect/>
          </a:stretch>
        </p:blipFill>
        <p:spPr>
          <a:xfrm>
            <a:off x="740664" y="1792224"/>
            <a:ext cx="256032" cy="256032"/>
          </a:xfrm>
          <a:prstGeom prst="rect">
            <a:avLst/>
          </a:prstGeom>
        </p:spPr>
      </p:pic>
      <p:sp>
        <p:nvSpPr>
          <p:cNvPr id="6" name="Text 3"/>
          <p:cNvSpPr txBox="1"/>
          <p:nvPr/>
        </p:nvSpPr>
        <p:spPr>
          <a:xfrm>
            <a:off x="1234440" y="1664208"/>
            <a:ext cx="1645920" cy="512064"/>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Un solo pulsante</a:t>
            </a:r>
            <a:endParaRPr lang="en-US" sz="1500" dirty="0"/>
          </a:p>
        </p:txBody>
      </p:sp>
      <p:sp>
        <p:nvSpPr>
          <p:cNvPr id="7" name="Text 4"/>
          <p:cNvSpPr txBox="1"/>
          <p:nvPr/>
        </p:nvSpPr>
        <p:spPr>
          <a:xfrm>
            <a:off x="640080" y="2286000"/>
            <a:ext cx="2240280" cy="54864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Si dice la meta: «Portami in farmacia»</a:t>
            </a:r>
            <a:endParaRPr lang="en-US" sz="1400" dirty="0"/>
          </a:p>
        </p:txBody>
      </p:sp>
      <p:sp>
        <p:nvSpPr>
          <p:cNvPr id="8" name="Shape 5"/>
          <p:cNvSpPr/>
          <p:nvPr/>
        </p:nvSpPr>
        <p:spPr>
          <a:xfrm>
            <a:off x="3291840" y="1508760"/>
            <a:ext cx="2560320" cy="1417320"/>
          </a:xfrm>
          <a:prstGeom prst="roundRect">
            <a:avLst>
              <a:gd name="adj" fmla="val 5161"/>
            </a:avLst>
          </a:prstGeom>
          <a:solidFill>
            <a:srgbClr val="E8EEF8"/>
          </a:solidFill>
          <a:ln/>
        </p:spPr>
      </p:sp>
      <p:sp>
        <p:nvSpPr>
          <p:cNvPr id="9" name="Shape 6"/>
          <p:cNvSpPr/>
          <p:nvPr/>
        </p:nvSpPr>
        <p:spPr>
          <a:xfrm>
            <a:off x="3474720" y="1691640"/>
            <a:ext cx="457200" cy="457200"/>
          </a:xfrm>
          <a:prstGeom prst="ellipse">
            <a:avLst/>
          </a:prstGeom>
          <a:solidFill>
            <a:srgbClr val="0B3D91"/>
          </a:solidFill>
          <a:ln/>
        </p:spPr>
      </p:sp>
      <p:pic>
        <p:nvPicPr>
          <p:cNvPr id="10" name="Image 1" descr="preencoded.png">    </p:cNvPr>
          <p:cNvPicPr>
            <a:picLocks noChangeAspect="1"/>
          </p:cNvPicPr>
          <p:nvPr/>
        </p:nvPicPr>
        <p:blipFill>
          <a:blip r:embed="rId2"/>
          <a:stretch>
            <a:fillRect/>
          </a:stretch>
        </p:blipFill>
        <p:spPr>
          <a:xfrm>
            <a:off x="3575304" y="1792224"/>
            <a:ext cx="256032" cy="256032"/>
          </a:xfrm>
          <a:prstGeom prst="rect">
            <a:avLst/>
          </a:prstGeom>
        </p:spPr>
      </p:pic>
      <p:sp>
        <p:nvSpPr>
          <p:cNvPr id="11" name="Text 7"/>
          <p:cNvSpPr txBox="1"/>
          <p:nvPr/>
        </p:nvSpPr>
        <p:spPr>
          <a:xfrm>
            <a:off x="4069080" y="1664208"/>
            <a:ext cx="1645920" cy="512064"/>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Tutto anche a voce</a:t>
            </a:r>
            <a:endParaRPr lang="en-US" sz="1500" dirty="0"/>
          </a:p>
        </p:txBody>
      </p:sp>
      <p:sp>
        <p:nvSpPr>
          <p:cNvPr id="12" name="Text 8"/>
          <p:cNvSpPr txBox="1"/>
          <p:nvPr/>
        </p:nvSpPr>
        <p:spPr>
          <a:xfrm>
            <a:off x="3474720" y="2286000"/>
            <a:ext cx="2240280" cy="54864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Voce italiana lenta e tasto «Ripeti»</a:t>
            </a:r>
            <a:endParaRPr lang="en-US" sz="1400" dirty="0"/>
          </a:p>
        </p:txBody>
      </p:sp>
      <p:sp>
        <p:nvSpPr>
          <p:cNvPr id="13" name="Shape 9"/>
          <p:cNvSpPr/>
          <p:nvPr/>
        </p:nvSpPr>
        <p:spPr>
          <a:xfrm>
            <a:off x="6126480" y="1508760"/>
            <a:ext cx="2560320" cy="1417320"/>
          </a:xfrm>
          <a:prstGeom prst="roundRect">
            <a:avLst>
              <a:gd name="adj" fmla="val 5161"/>
            </a:avLst>
          </a:prstGeom>
          <a:solidFill>
            <a:srgbClr val="E8EEF8"/>
          </a:solidFill>
          <a:ln/>
        </p:spPr>
      </p:sp>
      <p:sp>
        <p:nvSpPr>
          <p:cNvPr id="14" name="Shape 10"/>
          <p:cNvSpPr/>
          <p:nvPr/>
        </p:nvSpPr>
        <p:spPr>
          <a:xfrm>
            <a:off x="6309360" y="1691640"/>
            <a:ext cx="457200" cy="457200"/>
          </a:xfrm>
          <a:prstGeom prst="ellipse">
            <a:avLst/>
          </a:prstGeom>
          <a:solidFill>
            <a:srgbClr val="0B3D91"/>
          </a:solidFill>
          <a:ln/>
        </p:spPr>
      </p:sp>
      <p:pic>
        <p:nvPicPr>
          <p:cNvPr id="15" name="Image 2" descr="preencoded.png">    </p:cNvPr>
          <p:cNvPicPr>
            <a:picLocks noChangeAspect="1"/>
          </p:cNvPicPr>
          <p:nvPr/>
        </p:nvPicPr>
        <p:blipFill>
          <a:blip r:embed="rId3"/>
          <a:stretch>
            <a:fillRect/>
          </a:stretch>
        </p:blipFill>
        <p:spPr>
          <a:xfrm>
            <a:off x="6409944" y="1792224"/>
            <a:ext cx="256032" cy="256032"/>
          </a:xfrm>
          <a:prstGeom prst="rect">
            <a:avLst/>
          </a:prstGeom>
        </p:spPr>
      </p:pic>
      <p:sp>
        <p:nvSpPr>
          <p:cNvPr id="16" name="Text 11"/>
          <p:cNvSpPr txBox="1"/>
          <p:nvPr/>
        </p:nvSpPr>
        <p:spPr>
          <a:xfrm>
            <a:off x="6903720" y="1664208"/>
            <a:ext cx="1645920" cy="512064"/>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Grande e leggibile</a:t>
            </a:r>
            <a:endParaRPr lang="en-US" sz="1500" dirty="0"/>
          </a:p>
        </p:txBody>
      </p:sp>
      <p:sp>
        <p:nvSpPr>
          <p:cNvPr id="17" name="Text 12"/>
          <p:cNvSpPr txBox="1"/>
          <p:nvPr/>
        </p:nvSpPr>
        <p:spPr>
          <a:xfrm>
            <a:off x="6309360" y="2286000"/>
            <a:ext cx="2240280" cy="54864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Testi da 20 px, pulsanti fino a 96 px</a:t>
            </a:r>
            <a:endParaRPr lang="en-US" sz="1400" dirty="0"/>
          </a:p>
        </p:txBody>
      </p:sp>
      <p:sp>
        <p:nvSpPr>
          <p:cNvPr id="18" name="Shape 13"/>
          <p:cNvSpPr/>
          <p:nvPr/>
        </p:nvSpPr>
        <p:spPr>
          <a:xfrm>
            <a:off x="457200" y="3108960"/>
            <a:ext cx="2560320" cy="1417320"/>
          </a:xfrm>
          <a:prstGeom prst="roundRect">
            <a:avLst>
              <a:gd name="adj" fmla="val 5161"/>
            </a:avLst>
          </a:prstGeom>
          <a:solidFill>
            <a:srgbClr val="E8EEF8"/>
          </a:solidFill>
          <a:ln/>
        </p:spPr>
      </p:sp>
      <p:sp>
        <p:nvSpPr>
          <p:cNvPr id="19" name="Shape 14"/>
          <p:cNvSpPr/>
          <p:nvPr/>
        </p:nvSpPr>
        <p:spPr>
          <a:xfrm>
            <a:off x="640080" y="3291840"/>
            <a:ext cx="457200" cy="457200"/>
          </a:xfrm>
          <a:prstGeom prst="ellipse">
            <a:avLst/>
          </a:prstGeom>
          <a:solidFill>
            <a:srgbClr val="0B3D91"/>
          </a:solidFill>
          <a:ln/>
        </p:spPr>
      </p:sp>
      <p:pic>
        <p:nvPicPr>
          <p:cNvPr id="20" name="Image 3" descr="preencoded.png">    </p:cNvPr>
          <p:cNvPicPr>
            <a:picLocks noChangeAspect="1"/>
          </p:cNvPicPr>
          <p:nvPr/>
        </p:nvPicPr>
        <p:blipFill>
          <a:blip r:embed="rId4"/>
          <a:stretch>
            <a:fillRect/>
          </a:stretch>
        </p:blipFill>
        <p:spPr>
          <a:xfrm>
            <a:off x="740664" y="3392424"/>
            <a:ext cx="256032" cy="256032"/>
          </a:xfrm>
          <a:prstGeom prst="rect">
            <a:avLst/>
          </a:prstGeom>
        </p:spPr>
      </p:pic>
      <p:sp>
        <p:nvSpPr>
          <p:cNvPr id="21" name="Text 15"/>
          <p:cNvSpPr txBox="1"/>
          <p:nvPr/>
        </p:nvSpPr>
        <p:spPr>
          <a:xfrm>
            <a:off x="1234440" y="3264408"/>
            <a:ext cx="1645920" cy="512064"/>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Torna a casa</a:t>
            </a:r>
            <a:endParaRPr lang="en-US" sz="1500" dirty="0"/>
          </a:p>
        </p:txBody>
      </p:sp>
      <p:sp>
        <p:nvSpPr>
          <p:cNvPr id="22" name="Text 16"/>
          <p:cNvSpPr txBox="1"/>
          <p:nvPr/>
        </p:nvSpPr>
        <p:spPr>
          <a:xfrm>
            <a:off x="640080" y="3886200"/>
            <a:ext cx="2240280" cy="54864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I posti salvati diventano pulsanti</a:t>
            </a:r>
            <a:endParaRPr lang="en-US" sz="1400" dirty="0"/>
          </a:p>
        </p:txBody>
      </p:sp>
      <p:sp>
        <p:nvSpPr>
          <p:cNvPr id="23" name="Shape 17"/>
          <p:cNvSpPr/>
          <p:nvPr/>
        </p:nvSpPr>
        <p:spPr>
          <a:xfrm>
            <a:off x="3291840" y="3108960"/>
            <a:ext cx="2560320" cy="1417320"/>
          </a:xfrm>
          <a:prstGeom prst="roundRect">
            <a:avLst>
              <a:gd name="adj" fmla="val 5161"/>
            </a:avLst>
          </a:prstGeom>
          <a:solidFill>
            <a:srgbClr val="E8EEF8"/>
          </a:solidFill>
          <a:ln/>
        </p:spPr>
      </p:sp>
      <p:sp>
        <p:nvSpPr>
          <p:cNvPr id="24" name="Shape 18"/>
          <p:cNvSpPr/>
          <p:nvPr/>
        </p:nvSpPr>
        <p:spPr>
          <a:xfrm>
            <a:off x="3474720" y="3291840"/>
            <a:ext cx="457200" cy="457200"/>
          </a:xfrm>
          <a:prstGeom prst="ellipse">
            <a:avLst/>
          </a:prstGeom>
          <a:solidFill>
            <a:srgbClr val="0B3D91"/>
          </a:solidFill>
          <a:ln/>
        </p:spPr>
      </p:sp>
      <p:pic>
        <p:nvPicPr>
          <p:cNvPr id="25" name="Image 4" descr="preencoded.png">    </p:cNvPr>
          <p:cNvPicPr>
            <a:picLocks noChangeAspect="1"/>
          </p:cNvPicPr>
          <p:nvPr/>
        </p:nvPicPr>
        <p:blipFill>
          <a:blip r:embed="rId5"/>
          <a:stretch>
            <a:fillRect/>
          </a:stretch>
        </p:blipFill>
        <p:spPr>
          <a:xfrm>
            <a:off x="3575304" y="3392424"/>
            <a:ext cx="256032" cy="256032"/>
          </a:xfrm>
          <a:prstGeom prst="rect">
            <a:avLst/>
          </a:prstGeom>
        </p:spPr>
      </p:pic>
      <p:sp>
        <p:nvSpPr>
          <p:cNvPr id="26" name="Text 19"/>
          <p:cNvSpPr txBox="1"/>
          <p:nvPr/>
        </p:nvSpPr>
        <p:spPr>
          <a:xfrm>
            <a:off x="4069080" y="3264408"/>
            <a:ext cx="1645920" cy="512064"/>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Nessun account</a:t>
            </a:r>
            <a:endParaRPr lang="en-US" sz="1500" dirty="0"/>
          </a:p>
        </p:txBody>
      </p:sp>
      <p:sp>
        <p:nvSpPr>
          <p:cNvPr id="27" name="Text 20"/>
          <p:cNvSpPr txBox="1"/>
          <p:nvPr/>
        </p:nvSpPr>
        <p:spPr>
          <a:xfrm>
            <a:off x="3474720" y="3886200"/>
            <a:ext cx="2240280" cy="54864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Niente password, registrazione o pubblicità</a:t>
            </a:r>
            <a:endParaRPr lang="en-US" sz="1400" dirty="0"/>
          </a:p>
        </p:txBody>
      </p:sp>
      <p:sp>
        <p:nvSpPr>
          <p:cNvPr id="28" name="Shape 21"/>
          <p:cNvSpPr/>
          <p:nvPr/>
        </p:nvSpPr>
        <p:spPr>
          <a:xfrm>
            <a:off x="6126480" y="3108960"/>
            <a:ext cx="2560320" cy="1417320"/>
          </a:xfrm>
          <a:prstGeom prst="roundRect">
            <a:avLst>
              <a:gd name="adj" fmla="val 5161"/>
            </a:avLst>
          </a:prstGeom>
          <a:solidFill>
            <a:srgbClr val="E8EEF8"/>
          </a:solidFill>
          <a:ln/>
        </p:spPr>
      </p:sp>
      <p:sp>
        <p:nvSpPr>
          <p:cNvPr id="29" name="Shape 22"/>
          <p:cNvSpPr/>
          <p:nvPr/>
        </p:nvSpPr>
        <p:spPr>
          <a:xfrm>
            <a:off x="6309360" y="3291840"/>
            <a:ext cx="457200" cy="457200"/>
          </a:xfrm>
          <a:prstGeom prst="ellipse">
            <a:avLst/>
          </a:prstGeom>
          <a:solidFill>
            <a:srgbClr val="D7263D"/>
          </a:solidFill>
          <a:ln/>
        </p:spPr>
      </p:sp>
      <p:pic>
        <p:nvPicPr>
          <p:cNvPr id="30" name="Image 5" descr="preencoded.png">    </p:cNvPr>
          <p:cNvPicPr>
            <a:picLocks noChangeAspect="1"/>
          </p:cNvPicPr>
          <p:nvPr/>
        </p:nvPicPr>
        <p:blipFill>
          <a:blip r:embed="rId6"/>
          <a:stretch>
            <a:fillRect/>
          </a:stretch>
        </p:blipFill>
        <p:spPr>
          <a:xfrm>
            <a:off x="6409944" y="3392424"/>
            <a:ext cx="256032" cy="256032"/>
          </a:xfrm>
          <a:prstGeom prst="rect">
            <a:avLst/>
          </a:prstGeom>
        </p:spPr>
      </p:pic>
      <p:sp>
        <p:nvSpPr>
          <p:cNvPr id="31" name="Text 23"/>
          <p:cNvSpPr txBox="1"/>
          <p:nvPr/>
        </p:nvSpPr>
        <p:spPr>
          <a:xfrm>
            <a:off x="6903720" y="3264408"/>
            <a:ext cx="1645920" cy="512064"/>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SOS sempre visibile</a:t>
            </a:r>
            <a:endParaRPr lang="en-US" sz="1500" dirty="0"/>
          </a:p>
        </p:txBody>
      </p:sp>
      <p:sp>
        <p:nvSpPr>
          <p:cNvPr id="32" name="Text 24"/>
          <p:cNvSpPr txBox="1"/>
          <p:nvPr/>
        </p:nvSpPr>
        <p:spPr>
          <a:xfrm>
            <a:off x="6309360" y="3886200"/>
            <a:ext cx="2240280" cy="54864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Chiamata al 112 con un tocco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L'efficacia si misura prima e dopo, rispetto alle zone non coperte</a:t>
            </a:r>
            <a:endParaRPr lang="en-US" sz="2800" dirty="0"/>
          </a:p>
        </p:txBody>
      </p:sp>
      <p:sp>
        <p:nvSpPr>
          <p:cNvPr id="3" name="Shape 1"/>
          <p:cNvSpPr/>
          <p:nvPr/>
        </p:nvSpPr>
        <p:spPr>
          <a:xfrm>
            <a:off x="1463040" y="1828800"/>
            <a:ext cx="6217920" cy="0"/>
          </a:xfrm>
          <a:prstGeom prst="line">
            <a:avLst/>
          </a:prstGeom>
          <a:noFill/>
          <a:ln w="25400">
            <a:solidFill>
              <a:srgbClr val="C9D1DE"/>
            </a:solidFill>
            <a:prstDash val="solid"/>
          </a:ln>
        </p:spPr>
      </p:sp>
      <p:sp>
        <p:nvSpPr>
          <p:cNvPr id="4" name="Shape 2"/>
          <p:cNvSpPr/>
          <p:nvPr/>
        </p:nvSpPr>
        <p:spPr>
          <a:xfrm>
            <a:off x="1207008" y="1572768"/>
            <a:ext cx="512064" cy="512064"/>
          </a:xfrm>
          <a:prstGeom prst="ellipse">
            <a:avLst/>
          </a:prstGeom>
          <a:solidFill>
            <a:srgbClr val="0B3D91"/>
          </a:solidFill>
          <a:ln/>
        </p:spPr>
      </p:sp>
      <p:sp>
        <p:nvSpPr>
          <p:cNvPr id="5" name="Text 3"/>
          <p:cNvSpPr txBox="1"/>
          <p:nvPr/>
        </p:nvSpPr>
        <p:spPr>
          <a:xfrm>
            <a:off x="1207008" y="15727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6" name="Text 4"/>
          <p:cNvSpPr txBox="1"/>
          <p:nvPr/>
        </p:nvSpPr>
        <p:spPr>
          <a:xfrm>
            <a:off x="502920" y="2240280"/>
            <a:ext cx="1920240"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Linea di base</a:t>
            </a:r>
            <a:endParaRPr lang="en-US" sz="1500" dirty="0"/>
          </a:p>
        </p:txBody>
      </p:sp>
      <p:sp>
        <p:nvSpPr>
          <p:cNvPr id="7" name="Text 5"/>
          <p:cNvSpPr txBox="1"/>
          <p:nvPr/>
        </p:nvSpPr>
        <p:spPr>
          <a:xfrm>
            <a:off x="502920" y="2578608"/>
            <a:ext cx="1920240" cy="73152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Dati 2025 di Polizia Locale e Pronto Soccorso</a:t>
            </a:r>
            <a:endParaRPr lang="en-US" sz="1400" dirty="0"/>
          </a:p>
        </p:txBody>
      </p:sp>
      <p:sp>
        <p:nvSpPr>
          <p:cNvPr id="8" name="Shape 6"/>
          <p:cNvSpPr/>
          <p:nvPr/>
        </p:nvSpPr>
        <p:spPr>
          <a:xfrm>
            <a:off x="3279953" y="1572768"/>
            <a:ext cx="512064" cy="512064"/>
          </a:xfrm>
          <a:prstGeom prst="ellipse">
            <a:avLst/>
          </a:prstGeom>
          <a:solidFill>
            <a:srgbClr val="0B3D91"/>
          </a:solidFill>
          <a:ln/>
        </p:spPr>
      </p:sp>
      <p:sp>
        <p:nvSpPr>
          <p:cNvPr id="9" name="Text 7"/>
          <p:cNvSpPr txBox="1"/>
          <p:nvPr/>
        </p:nvSpPr>
        <p:spPr>
          <a:xfrm>
            <a:off x="3279953" y="15727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0" name="Text 8"/>
          <p:cNvSpPr txBox="1"/>
          <p:nvPr/>
        </p:nvSpPr>
        <p:spPr>
          <a:xfrm>
            <a:off x="2575865" y="2240280"/>
            <a:ext cx="1920240"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Adozione</a:t>
            </a:r>
            <a:endParaRPr lang="en-US" sz="1500" dirty="0"/>
          </a:p>
        </p:txBody>
      </p:sp>
      <p:sp>
        <p:nvSpPr>
          <p:cNvPr id="11" name="Text 9"/>
          <p:cNvSpPr txBox="1"/>
          <p:nvPr/>
        </p:nvSpPr>
        <p:spPr>
          <a:xfrm>
            <a:off x="2575865" y="2578608"/>
            <a:ext cx="1920240" cy="73152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Installazioni e viaggi, solo totali anonimi</a:t>
            </a:r>
            <a:endParaRPr lang="en-US" sz="1400" dirty="0"/>
          </a:p>
        </p:txBody>
      </p:sp>
      <p:sp>
        <p:nvSpPr>
          <p:cNvPr id="12" name="Shape 10"/>
          <p:cNvSpPr/>
          <p:nvPr/>
        </p:nvSpPr>
        <p:spPr>
          <a:xfrm>
            <a:off x="5352898" y="1572768"/>
            <a:ext cx="512064" cy="512064"/>
          </a:xfrm>
          <a:prstGeom prst="ellipse">
            <a:avLst/>
          </a:prstGeom>
          <a:solidFill>
            <a:srgbClr val="0B3D91"/>
          </a:solidFill>
          <a:ln/>
        </p:spPr>
      </p:sp>
      <p:sp>
        <p:nvSpPr>
          <p:cNvPr id="13" name="Text 11"/>
          <p:cNvSpPr txBox="1"/>
          <p:nvPr/>
        </p:nvSpPr>
        <p:spPr>
          <a:xfrm>
            <a:off x="5352898" y="15727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4" name="Text 12"/>
          <p:cNvSpPr txBox="1"/>
          <p:nvPr/>
        </p:nvSpPr>
        <p:spPr>
          <a:xfrm>
            <a:off x="4648810" y="2240280"/>
            <a:ext cx="1920240"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Esito</a:t>
            </a:r>
            <a:endParaRPr lang="en-US" sz="1500" dirty="0"/>
          </a:p>
        </p:txBody>
      </p:sp>
      <p:sp>
        <p:nvSpPr>
          <p:cNvPr id="15" name="Text 13"/>
          <p:cNvSpPr txBox="1"/>
          <p:nvPr/>
        </p:nvSpPr>
        <p:spPr>
          <a:xfrm>
            <a:off x="4648810" y="2578608"/>
            <a:ext cx="1920240" cy="73152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Confronto trimestrale nei punti coperti</a:t>
            </a:r>
            <a:endParaRPr lang="en-US" sz="1400" dirty="0"/>
          </a:p>
        </p:txBody>
      </p:sp>
      <p:sp>
        <p:nvSpPr>
          <p:cNvPr id="16" name="Shape 14"/>
          <p:cNvSpPr/>
          <p:nvPr/>
        </p:nvSpPr>
        <p:spPr>
          <a:xfrm>
            <a:off x="7425842" y="1572768"/>
            <a:ext cx="512064" cy="512064"/>
          </a:xfrm>
          <a:prstGeom prst="ellipse">
            <a:avLst/>
          </a:prstGeom>
          <a:solidFill>
            <a:srgbClr val="FFD200"/>
          </a:solidFill>
          <a:ln/>
        </p:spPr>
      </p:sp>
      <p:sp>
        <p:nvSpPr>
          <p:cNvPr id="17" name="Text 15"/>
          <p:cNvSpPr txBox="1"/>
          <p:nvPr/>
        </p:nvSpPr>
        <p:spPr>
          <a:xfrm>
            <a:off x="7425842" y="1572768"/>
            <a:ext cx="512064" cy="512064"/>
          </a:xfrm>
          <a:prstGeom prst="rect">
            <a:avLst/>
          </a:prstGeom>
          <a:noFill/>
          <a:ln/>
        </p:spPr>
        <p:txBody>
          <a:bodyPr wrap="square" lIns="0" tIns="0" rIns="0" bIns="0" rtlCol="0" anchor="ctr"/>
          <a:lstStyle/>
          <a:p>
            <a:pPr algn="ctr" indent="0" marL="0">
              <a:buNone/>
            </a:pPr>
            <a:r>
              <a:rPr lang="en-US" sz="1600" b="1" dirty="0">
                <a:solidFill>
                  <a:srgbClr val="1B2333"/>
                </a:solidFill>
                <a:latin typeface="Montserrat" pitchFamily="34" charset="0"/>
                <a:ea typeface="Montserrat" pitchFamily="34" charset="-122"/>
                <a:cs typeface="Montserrat" pitchFamily="34" charset="-120"/>
              </a:rPr>
              <a:t>4</a:t>
            </a:r>
            <a:endParaRPr lang="en-US" sz="1600" dirty="0"/>
          </a:p>
        </p:txBody>
      </p:sp>
      <p:sp>
        <p:nvSpPr>
          <p:cNvPr id="18" name="Text 16"/>
          <p:cNvSpPr txBox="1"/>
          <p:nvPr/>
        </p:nvSpPr>
        <p:spPr>
          <a:xfrm>
            <a:off x="6721754" y="2240280"/>
            <a:ext cx="1920240" cy="320040"/>
          </a:xfrm>
          <a:prstGeom prst="rect">
            <a:avLst/>
          </a:prstGeom>
          <a:noFill/>
          <a:ln/>
        </p:spPr>
        <p:txBody>
          <a:bodyPr wrap="square" lIns="0" tIns="0" rIns="0" bIns="0" rtlCol="0" anchor="t"/>
          <a:lstStyle/>
          <a:p>
            <a:pPr algn="ctr" indent="0" marL="0">
              <a:buNone/>
            </a:pPr>
            <a:r>
              <a:rPr lang="en-US" sz="1500" b="1" dirty="0">
                <a:solidFill>
                  <a:srgbClr val="0B3D91"/>
                </a:solidFill>
                <a:latin typeface="Montserrat" pitchFamily="34" charset="0"/>
                <a:ea typeface="Montserrat" pitchFamily="34" charset="-122"/>
                <a:cs typeface="Montserrat" pitchFamily="34" charset="-120"/>
              </a:rPr>
              <a:t>Vite salvate</a:t>
            </a:r>
            <a:endParaRPr lang="en-US" sz="1500" dirty="0"/>
          </a:p>
        </p:txBody>
      </p:sp>
      <p:sp>
        <p:nvSpPr>
          <p:cNvPr id="19" name="Text 17"/>
          <p:cNvSpPr txBox="1"/>
          <p:nvPr/>
        </p:nvSpPr>
        <p:spPr>
          <a:xfrm>
            <a:off x="6721754" y="2578608"/>
            <a:ext cx="1920240" cy="731520"/>
          </a:xfrm>
          <a:prstGeom prst="rect">
            <a:avLst/>
          </a:prstGeom>
          <a:noFill/>
          <a:ln/>
        </p:spPr>
        <p:txBody>
          <a:bodyPr wrap="square" lIns="0" tIns="0" rIns="0" bIns="0" rtlCol="0" anchor="t"/>
          <a:lstStyle/>
          <a:p>
            <a:pPr algn="ctr" indent="0" marL="0">
              <a:buNone/>
            </a:pPr>
            <a:r>
              <a:rPr lang="en-US" sz="1400" dirty="0">
                <a:solidFill>
                  <a:srgbClr val="1B2333"/>
                </a:solidFill>
                <a:latin typeface="Lato" pitchFamily="34" charset="0"/>
                <a:ea typeface="Lato" pitchFamily="34" charset="-122"/>
                <a:cs typeface="Lato" pitchFamily="34" charset="-120"/>
              </a:rPr>
              <a:t>Eventi evitati × letalità storica</a:t>
            </a:r>
            <a:endParaRPr lang="en-US" sz="1400" dirty="0"/>
          </a:p>
        </p:txBody>
      </p:sp>
      <p:sp>
        <p:nvSpPr>
          <p:cNvPr id="20" name="Text 18"/>
          <p:cNvSpPr txBox="1"/>
          <p:nvPr/>
        </p:nvSpPr>
        <p:spPr>
          <a:xfrm>
            <a:off x="457200" y="3566160"/>
            <a:ext cx="8229600" cy="320040"/>
          </a:xfrm>
          <a:prstGeom prst="rect">
            <a:avLst/>
          </a:prstGeom>
          <a:noFill/>
          <a:ln/>
        </p:spPr>
        <p:txBody>
          <a:bodyPr wrap="square" lIns="0" tIns="0" rIns="0" bIns="0" rtlCol="0" anchor="t"/>
          <a:lstStyle/>
          <a:p>
            <a:pPr indent="0" marL="0">
              <a:buNone/>
            </a:pPr>
            <a:r>
              <a:rPr lang="en-US" sz="1500" b="1" dirty="0">
                <a:solidFill>
                  <a:srgbClr val="0B3D91"/>
                </a:solidFill>
                <a:latin typeface="Montserrat" pitchFamily="34" charset="0"/>
                <a:ea typeface="Montserrat" pitchFamily="34" charset="-122"/>
                <a:cs typeface="Montserrat" pitchFamily="34" charset="-120"/>
              </a:rPr>
              <a:t>Misurati dall'app nella sezione «I miei numeri»</a:t>
            </a:r>
            <a:endParaRPr lang="en-US" sz="1500" dirty="0"/>
          </a:p>
        </p:txBody>
      </p:sp>
      <p:sp>
        <p:nvSpPr>
          <p:cNvPr id="21" name="Shape 19"/>
          <p:cNvSpPr/>
          <p:nvPr/>
        </p:nvSpPr>
        <p:spPr>
          <a:xfrm>
            <a:off x="457200" y="3950208"/>
            <a:ext cx="1554480" cy="603504"/>
          </a:xfrm>
          <a:prstGeom prst="roundRect">
            <a:avLst>
              <a:gd name="adj" fmla="val 12121"/>
            </a:avLst>
          </a:prstGeom>
          <a:solidFill>
            <a:srgbClr val="E8EEF8"/>
          </a:solidFill>
          <a:ln/>
        </p:spPr>
      </p:sp>
      <p:sp>
        <p:nvSpPr>
          <p:cNvPr id="22" name="Text 20"/>
          <p:cNvSpPr txBox="1"/>
          <p:nvPr/>
        </p:nvSpPr>
        <p:spPr>
          <a:xfrm>
            <a:off x="548640" y="3950208"/>
            <a:ext cx="1371600" cy="603504"/>
          </a:xfrm>
          <a:prstGeom prst="rect">
            <a:avLst/>
          </a:prstGeom>
          <a:noFill/>
          <a:ln/>
        </p:spPr>
        <p:txBody>
          <a:bodyPr wrap="square" lIns="0" tIns="0" rIns="0" bIns="0" rtlCol="0" anchor="ctr"/>
          <a:lstStyle/>
          <a:p>
            <a:pPr algn="ctr" indent="0" marL="0">
              <a:buNone/>
            </a:pPr>
            <a:r>
              <a:rPr lang="en-US" sz="1400" dirty="0">
                <a:solidFill>
                  <a:srgbClr val="1B2333"/>
                </a:solidFill>
                <a:latin typeface="Lato" pitchFamily="34" charset="0"/>
                <a:ea typeface="Lato" pitchFamily="34" charset="-122"/>
                <a:cs typeface="Lato" pitchFamily="34" charset="-120"/>
              </a:rPr>
              <a:t>Attraversamenti guidati</a:t>
            </a:r>
            <a:endParaRPr lang="en-US" sz="1400" dirty="0"/>
          </a:p>
        </p:txBody>
      </p:sp>
      <p:sp>
        <p:nvSpPr>
          <p:cNvPr id="23" name="Shape 21"/>
          <p:cNvSpPr/>
          <p:nvPr/>
        </p:nvSpPr>
        <p:spPr>
          <a:xfrm>
            <a:off x="2125980" y="3950208"/>
            <a:ext cx="1554480" cy="603504"/>
          </a:xfrm>
          <a:prstGeom prst="roundRect">
            <a:avLst>
              <a:gd name="adj" fmla="val 12121"/>
            </a:avLst>
          </a:prstGeom>
          <a:solidFill>
            <a:srgbClr val="E8EEF8"/>
          </a:solidFill>
          <a:ln/>
        </p:spPr>
      </p:sp>
      <p:sp>
        <p:nvSpPr>
          <p:cNvPr id="24" name="Text 22"/>
          <p:cNvSpPr txBox="1"/>
          <p:nvPr/>
        </p:nvSpPr>
        <p:spPr>
          <a:xfrm>
            <a:off x="2217420" y="3950208"/>
            <a:ext cx="1371600" cy="603504"/>
          </a:xfrm>
          <a:prstGeom prst="rect">
            <a:avLst/>
          </a:prstGeom>
          <a:noFill/>
          <a:ln/>
        </p:spPr>
        <p:txBody>
          <a:bodyPr wrap="square" lIns="0" tIns="0" rIns="0" bIns="0" rtlCol="0" anchor="ctr"/>
          <a:lstStyle/>
          <a:p>
            <a:pPr algn="ctr" indent="0" marL="0">
              <a:buNone/>
            </a:pPr>
            <a:r>
              <a:rPr lang="en-US" sz="1400" dirty="0">
                <a:solidFill>
                  <a:srgbClr val="1B2333"/>
                </a:solidFill>
                <a:latin typeface="Lato" pitchFamily="34" charset="0"/>
                <a:ea typeface="Lato" pitchFamily="34" charset="-122"/>
                <a:cs typeface="Lato" pitchFamily="34" charset="-120"/>
              </a:rPr>
              <a:t>Avvisi emessi</a:t>
            </a:r>
            <a:endParaRPr lang="en-US" sz="1400" dirty="0"/>
          </a:p>
        </p:txBody>
      </p:sp>
      <p:sp>
        <p:nvSpPr>
          <p:cNvPr id="25" name="Shape 23"/>
          <p:cNvSpPr/>
          <p:nvPr/>
        </p:nvSpPr>
        <p:spPr>
          <a:xfrm>
            <a:off x="3794760" y="3950208"/>
            <a:ext cx="1554480" cy="603504"/>
          </a:xfrm>
          <a:prstGeom prst="roundRect">
            <a:avLst>
              <a:gd name="adj" fmla="val 12121"/>
            </a:avLst>
          </a:prstGeom>
          <a:solidFill>
            <a:srgbClr val="E8EEF8"/>
          </a:solidFill>
          <a:ln/>
        </p:spPr>
      </p:sp>
      <p:sp>
        <p:nvSpPr>
          <p:cNvPr id="26" name="Text 24"/>
          <p:cNvSpPr txBox="1"/>
          <p:nvPr/>
        </p:nvSpPr>
        <p:spPr>
          <a:xfrm>
            <a:off x="3886200" y="3950208"/>
            <a:ext cx="1371600" cy="603504"/>
          </a:xfrm>
          <a:prstGeom prst="rect">
            <a:avLst/>
          </a:prstGeom>
          <a:noFill/>
          <a:ln/>
        </p:spPr>
        <p:txBody>
          <a:bodyPr wrap="square" lIns="0" tIns="0" rIns="0" bIns="0" rtlCol="0" anchor="ctr"/>
          <a:lstStyle/>
          <a:p>
            <a:pPr algn="ctr" indent="0" marL="0">
              <a:buNone/>
            </a:pPr>
            <a:r>
              <a:rPr lang="en-US" sz="1400" dirty="0">
                <a:solidFill>
                  <a:srgbClr val="1B2333"/>
                </a:solidFill>
                <a:latin typeface="Lato" pitchFamily="34" charset="0"/>
                <a:ea typeface="Lato" pitchFamily="34" charset="-122"/>
                <a:cs typeface="Lato" pitchFamily="34" charset="-120"/>
              </a:rPr>
              <a:t>«Fermati» emessi</a:t>
            </a:r>
            <a:endParaRPr lang="en-US" sz="1400" dirty="0"/>
          </a:p>
        </p:txBody>
      </p:sp>
      <p:sp>
        <p:nvSpPr>
          <p:cNvPr id="27" name="Shape 25"/>
          <p:cNvSpPr/>
          <p:nvPr/>
        </p:nvSpPr>
        <p:spPr>
          <a:xfrm>
            <a:off x="5463540" y="3950208"/>
            <a:ext cx="1554480" cy="603504"/>
          </a:xfrm>
          <a:prstGeom prst="roundRect">
            <a:avLst>
              <a:gd name="adj" fmla="val 12121"/>
            </a:avLst>
          </a:prstGeom>
          <a:solidFill>
            <a:srgbClr val="E8EEF8"/>
          </a:solidFill>
          <a:ln/>
        </p:spPr>
      </p:sp>
      <p:sp>
        <p:nvSpPr>
          <p:cNvPr id="28" name="Text 26"/>
          <p:cNvSpPr txBox="1"/>
          <p:nvPr/>
        </p:nvSpPr>
        <p:spPr>
          <a:xfrm>
            <a:off x="5554980" y="3950208"/>
            <a:ext cx="1371600" cy="603504"/>
          </a:xfrm>
          <a:prstGeom prst="rect">
            <a:avLst/>
          </a:prstGeom>
          <a:noFill/>
          <a:ln/>
        </p:spPr>
        <p:txBody>
          <a:bodyPr wrap="square" lIns="0" tIns="0" rIns="0" bIns="0" rtlCol="0" anchor="ctr"/>
          <a:lstStyle/>
          <a:p>
            <a:pPr algn="ctr" indent="0" marL="0">
              <a:buNone/>
            </a:pPr>
            <a:r>
              <a:rPr lang="en-US" sz="1400" dirty="0">
                <a:solidFill>
                  <a:srgbClr val="1B2333"/>
                </a:solidFill>
                <a:latin typeface="Lato" pitchFamily="34" charset="0"/>
                <a:ea typeface="Lato" pitchFamily="34" charset="-122"/>
                <a:cs typeface="Lato" pitchFamily="34" charset="-120"/>
              </a:rPr>
              <a:t>Pericoli segnalati</a:t>
            </a:r>
            <a:endParaRPr lang="en-US" sz="1400" dirty="0"/>
          </a:p>
        </p:txBody>
      </p:sp>
      <p:sp>
        <p:nvSpPr>
          <p:cNvPr id="29" name="Shape 27"/>
          <p:cNvSpPr/>
          <p:nvPr/>
        </p:nvSpPr>
        <p:spPr>
          <a:xfrm>
            <a:off x="7132320" y="3950208"/>
            <a:ext cx="1554480" cy="603504"/>
          </a:xfrm>
          <a:prstGeom prst="roundRect">
            <a:avLst>
              <a:gd name="adj" fmla="val 12121"/>
            </a:avLst>
          </a:prstGeom>
          <a:solidFill>
            <a:srgbClr val="E8EEF8"/>
          </a:solidFill>
          <a:ln/>
        </p:spPr>
      </p:sp>
      <p:sp>
        <p:nvSpPr>
          <p:cNvPr id="30" name="Text 28"/>
          <p:cNvSpPr txBox="1"/>
          <p:nvPr/>
        </p:nvSpPr>
        <p:spPr>
          <a:xfrm>
            <a:off x="7223760" y="3950208"/>
            <a:ext cx="1371600" cy="603504"/>
          </a:xfrm>
          <a:prstGeom prst="rect">
            <a:avLst/>
          </a:prstGeom>
          <a:noFill/>
          <a:ln/>
        </p:spPr>
        <p:txBody>
          <a:bodyPr wrap="square" lIns="0" tIns="0" rIns="0" bIns="0" rtlCol="0" anchor="ctr"/>
          <a:lstStyle/>
          <a:p>
            <a:pPr algn="ctr" indent="0" marL="0">
              <a:buNone/>
            </a:pPr>
            <a:r>
              <a:rPr lang="en-US" sz="1400" dirty="0">
                <a:solidFill>
                  <a:srgbClr val="1B2333"/>
                </a:solidFill>
                <a:latin typeface="Lato" pitchFamily="34" charset="0"/>
                <a:ea typeface="Lato" pitchFamily="34" charset="-122"/>
                <a:cs typeface="Lato" pitchFamily="34" charset="-120"/>
              </a:rPr>
              <a:t>Km a piedi e arrivi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I dati di traffico, pensati per le auto, qui proteggono il pedone</a:t>
            </a:r>
            <a:endParaRPr lang="en-US" sz="2800" dirty="0"/>
          </a:p>
        </p:txBody>
      </p:sp>
      <p:sp>
        <p:nvSpPr>
          <p:cNvPr id="3" name="Shape 1"/>
          <p:cNvSpPr/>
          <p:nvPr/>
        </p:nvSpPr>
        <p:spPr>
          <a:xfrm>
            <a:off x="457200" y="1508760"/>
            <a:ext cx="3108960" cy="3017520"/>
          </a:xfrm>
          <a:prstGeom prst="roundRect">
            <a:avLst>
              <a:gd name="adj" fmla="val 2424"/>
            </a:avLst>
          </a:prstGeom>
          <a:solidFill>
            <a:srgbClr val="0B3D91"/>
          </a:solidFill>
          <a:ln/>
        </p:spPr>
      </p:sp>
      <p:sp>
        <p:nvSpPr>
          <p:cNvPr id="4" name="Text 2"/>
          <p:cNvSpPr txBox="1"/>
          <p:nvPr/>
        </p:nvSpPr>
        <p:spPr>
          <a:xfrm>
            <a:off x="731520" y="1783080"/>
            <a:ext cx="2560320" cy="1737360"/>
          </a:xfrm>
          <a:prstGeom prst="rect">
            <a:avLst/>
          </a:prstGeom>
          <a:noFill/>
          <a:ln/>
        </p:spPr>
        <p:txBody>
          <a:bodyPr wrap="square" lIns="0" tIns="0" rIns="0" bIns="0" rtlCol="0" anchor="t"/>
          <a:lstStyle/>
          <a:p>
            <a:pPr indent="0" marL="0">
              <a:buNone/>
            </a:pPr>
            <a:r>
              <a:rPr lang="en-US" sz="2200" b="1" dirty="0">
                <a:solidFill>
                  <a:srgbClr val="FFFFFF"/>
                </a:solidFill>
                <a:latin typeface="Montserrat" pitchFamily="34" charset="0"/>
                <a:ea typeface="Montserrat" pitchFamily="34" charset="-122"/>
                <a:cs typeface="Montserrat" pitchFamily="34" charset="-120"/>
              </a:rPr>
              <a:t>Nessun intervento sui vicoli del centro storico</a:t>
            </a:r>
            <a:endParaRPr lang="en-US" sz="2200" dirty="0"/>
          </a:p>
        </p:txBody>
      </p:sp>
      <p:sp>
        <p:nvSpPr>
          <p:cNvPr id="5" name="Text 3"/>
          <p:cNvSpPr txBox="1"/>
          <p:nvPr/>
        </p:nvSpPr>
        <p:spPr>
          <a:xfrm>
            <a:off x="731520" y="3520440"/>
            <a:ext cx="2560320" cy="822960"/>
          </a:xfrm>
          <a:prstGeom prst="rect">
            <a:avLst/>
          </a:prstGeom>
          <a:noFill/>
          <a:ln/>
        </p:spPr>
        <p:txBody>
          <a:bodyPr wrap="square" lIns="0" tIns="0" rIns="0" bIns="0" rtlCol="0" anchor="t"/>
          <a:lstStyle/>
          <a:p>
            <a:pPr indent="0" marL="0">
              <a:buNone/>
            </a:pPr>
            <a:r>
              <a:rPr lang="en-US" sz="1400" dirty="0">
                <a:solidFill>
                  <a:srgbClr val="DCE4F2"/>
                </a:solidFill>
                <a:latin typeface="Lato" pitchFamily="34" charset="0"/>
                <a:ea typeface="Lato" pitchFamily="34" charset="-122"/>
                <a:cs typeface="Lato" pitchFamily="34" charset="-120"/>
              </a:rPr>
              <a:t>I vicoli restano «così come attualmente sono», come chiede l'Art. 2 del bando.</a:t>
            </a:r>
            <a:endParaRPr lang="en-US" sz="1400" dirty="0"/>
          </a:p>
        </p:txBody>
      </p:sp>
      <p:sp>
        <p:nvSpPr>
          <p:cNvPr id="6" name="Shape 4"/>
          <p:cNvSpPr/>
          <p:nvPr/>
        </p:nvSpPr>
        <p:spPr>
          <a:xfrm>
            <a:off x="3840480" y="1581912"/>
            <a:ext cx="475488" cy="475488"/>
          </a:xfrm>
          <a:prstGeom prst="ellipse">
            <a:avLst/>
          </a:prstGeom>
          <a:solidFill>
            <a:srgbClr val="0B3D91"/>
          </a:solidFill>
          <a:ln/>
        </p:spPr>
      </p:sp>
      <p:pic>
        <p:nvPicPr>
          <p:cNvPr id="7" name="Image 0" descr="preencoded.png">    </p:cNvPr>
          <p:cNvPicPr>
            <a:picLocks noChangeAspect="1"/>
          </p:cNvPicPr>
          <p:nvPr/>
        </p:nvPicPr>
        <p:blipFill>
          <a:blip r:embed="rId1"/>
          <a:stretch>
            <a:fillRect/>
          </a:stretch>
        </p:blipFill>
        <p:spPr>
          <a:xfrm>
            <a:off x="3945087" y="1686519"/>
            <a:ext cx="266273" cy="266273"/>
          </a:xfrm>
          <a:prstGeom prst="rect">
            <a:avLst/>
          </a:prstGeom>
        </p:spPr>
      </p:pic>
      <p:sp>
        <p:nvSpPr>
          <p:cNvPr id="8" name="Text 5"/>
          <p:cNvSpPr txBox="1"/>
          <p:nvPr/>
        </p:nvSpPr>
        <p:spPr>
          <a:xfrm>
            <a:off x="4480560" y="1536192"/>
            <a:ext cx="4206240" cy="658368"/>
          </a:xfrm>
          <a:prstGeom prst="rect">
            <a:avLst/>
          </a:prstGeom>
          <a:noFill/>
          <a:ln/>
        </p:spPr>
        <p:txBody>
          <a:bodyPr wrap="square" lIns="0" tIns="0" rIns="0" bIns="0" rtlCol="0" anchor="t"/>
          <a:lstStyle/>
          <a:p>
            <a:pPr indent="0" marL="0">
              <a:buNone/>
            </a:pPr>
            <a:r>
              <a:rPr lang="en-US" sz="1500" b="1" dirty="0">
                <a:solidFill>
                  <a:srgbClr val="1B2333"/>
                </a:solidFill>
                <a:latin typeface="Montserrat" pitchFamily="34" charset="0"/>
                <a:ea typeface="Montserrat" pitchFamily="34" charset="-122"/>
                <a:cs typeface="Montserrat" pitchFamily="34" charset="-120"/>
              </a:rPr>
              <a:t>Voce in ingresso e in uscita</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Non serve guardare lo schermo mentre si cammina</a:t>
            </a:r>
            <a:endParaRPr lang="en-US" sz="1400" dirty="0"/>
          </a:p>
        </p:txBody>
      </p:sp>
      <p:sp>
        <p:nvSpPr>
          <p:cNvPr id="9" name="Shape 6"/>
          <p:cNvSpPr/>
          <p:nvPr/>
        </p:nvSpPr>
        <p:spPr>
          <a:xfrm>
            <a:off x="3840480" y="2340864"/>
            <a:ext cx="475488" cy="475488"/>
          </a:xfrm>
          <a:prstGeom prst="ellipse">
            <a:avLst/>
          </a:prstGeom>
          <a:solidFill>
            <a:srgbClr val="0B3D91"/>
          </a:solidFill>
          <a:ln/>
        </p:spPr>
      </p:sp>
      <p:pic>
        <p:nvPicPr>
          <p:cNvPr id="10" name="Image 1" descr="preencoded.png">    </p:cNvPr>
          <p:cNvPicPr>
            <a:picLocks noChangeAspect="1"/>
          </p:cNvPicPr>
          <p:nvPr/>
        </p:nvPicPr>
        <p:blipFill>
          <a:blip r:embed="rId2"/>
          <a:stretch>
            <a:fillRect/>
          </a:stretch>
        </p:blipFill>
        <p:spPr>
          <a:xfrm>
            <a:off x="3945087" y="2445471"/>
            <a:ext cx="266273" cy="266273"/>
          </a:xfrm>
          <a:prstGeom prst="rect">
            <a:avLst/>
          </a:prstGeom>
        </p:spPr>
      </p:pic>
      <p:sp>
        <p:nvSpPr>
          <p:cNvPr id="11" name="Text 7"/>
          <p:cNvSpPr txBox="1"/>
          <p:nvPr/>
        </p:nvSpPr>
        <p:spPr>
          <a:xfrm>
            <a:off x="4480560" y="2295144"/>
            <a:ext cx="4206240" cy="658368"/>
          </a:xfrm>
          <a:prstGeom prst="rect">
            <a:avLst/>
          </a:prstGeom>
          <a:noFill/>
          <a:ln/>
        </p:spPr>
        <p:txBody>
          <a:bodyPr wrap="square" lIns="0" tIns="0" rIns="0" bIns="0" rtlCol="0" anchor="t"/>
          <a:lstStyle/>
          <a:p>
            <a:pPr indent="0" marL="0">
              <a:buNone/>
            </a:pPr>
            <a:r>
              <a:rPr lang="en-US" sz="1500" b="1" dirty="0">
                <a:solidFill>
                  <a:srgbClr val="1B2333"/>
                </a:solidFill>
                <a:latin typeface="Montserrat" pitchFamily="34" charset="0"/>
                <a:ea typeface="Montserrat" pitchFamily="34" charset="-122"/>
                <a:cs typeface="Montserrat" pitchFamily="34" charset="-120"/>
              </a:rPr>
              <a:t>Avvisi sull'attraversamento reale</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Non sulla semplice vicinanza a un punto</a:t>
            </a:r>
            <a:endParaRPr lang="en-US" sz="1400" dirty="0"/>
          </a:p>
        </p:txBody>
      </p:sp>
      <p:sp>
        <p:nvSpPr>
          <p:cNvPr id="12" name="Shape 8"/>
          <p:cNvSpPr/>
          <p:nvPr/>
        </p:nvSpPr>
        <p:spPr>
          <a:xfrm>
            <a:off x="3840480" y="3099816"/>
            <a:ext cx="475488" cy="475488"/>
          </a:xfrm>
          <a:prstGeom prst="ellipse">
            <a:avLst/>
          </a:prstGeom>
          <a:solidFill>
            <a:srgbClr val="0B3D91"/>
          </a:solidFill>
          <a:ln/>
        </p:spPr>
      </p:sp>
      <p:pic>
        <p:nvPicPr>
          <p:cNvPr id="13" name="Image 2" descr="preencoded.png">    </p:cNvPr>
          <p:cNvPicPr>
            <a:picLocks noChangeAspect="1"/>
          </p:cNvPicPr>
          <p:nvPr/>
        </p:nvPicPr>
        <p:blipFill>
          <a:blip r:embed="rId3"/>
          <a:stretch>
            <a:fillRect/>
          </a:stretch>
        </p:blipFill>
        <p:spPr>
          <a:xfrm>
            <a:off x="3945087" y="3204423"/>
            <a:ext cx="266273" cy="266273"/>
          </a:xfrm>
          <a:prstGeom prst="rect">
            <a:avLst/>
          </a:prstGeom>
        </p:spPr>
      </p:pic>
      <p:sp>
        <p:nvSpPr>
          <p:cNvPr id="14" name="Text 9"/>
          <p:cNvSpPr txBox="1"/>
          <p:nvPr/>
        </p:nvSpPr>
        <p:spPr>
          <a:xfrm>
            <a:off x="4480560" y="3054096"/>
            <a:ext cx="4206240" cy="658368"/>
          </a:xfrm>
          <a:prstGeom prst="rect">
            <a:avLst/>
          </a:prstGeom>
          <a:noFill/>
          <a:ln/>
        </p:spPr>
        <p:txBody>
          <a:bodyPr wrap="square" lIns="0" tIns="0" rIns="0" bIns="0" rtlCol="0" anchor="t"/>
          <a:lstStyle/>
          <a:p>
            <a:pPr indent="0" marL="0">
              <a:buNone/>
            </a:pPr>
            <a:r>
              <a:rPr lang="en-US" sz="1500" b="1" dirty="0">
                <a:solidFill>
                  <a:srgbClr val="1B2333"/>
                </a:solidFill>
                <a:latin typeface="Montserrat" pitchFamily="34" charset="0"/>
                <a:ea typeface="Montserrat" pitchFamily="34" charset="-122"/>
                <a:cs typeface="Montserrat" pitchFamily="34" charset="-120"/>
              </a:rPr>
              <a:t>Traffico in tempo reale per il pedone</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Cantieri, incidenti e code, non per l'auto</a:t>
            </a:r>
            <a:endParaRPr lang="en-US" sz="1400" dirty="0"/>
          </a:p>
        </p:txBody>
      </p:sp>
      <p:sp>
        <p:nvSpPr>
          <p:cNvPr id="15" name="Shape 10"/>
          <p:cNvSpPr/>
          <p:nvPr/>
        </p:nvSpPr>
        <p:spPr>
          <a:xfrm>
            <a:off x="3840480" y="3858768"/>
            <a:ext cx="475488" cy="475488"/>
          </a:xfrm>
          <a:prstGeom prst="ellipse">
            <a:avLst/>
          </a:prstGeom>
          <a:solidFill>
            <a:srgbClr val="0B3D91"/>
          </a:solidFill>
          <a:ln/>
        </p:spPr>
      </p:sp>
      <p:pic>
        <p:nvPicPr>
          <p:cNvPr id="16" name="Image 3" descr="preencoded.png">    </p:cNvPr>
          <p:cNvPicPr>
            <a:picLocks noChangeAspect="1"/>
          </p:cNvPicPr>
          <p:nvPr/>
        </p:nvPicPr>
        <p:blipFill>
          <a:blip r:embed="rId4"/>
          <a:stretch>
            <a:fillRect/>
          </a:stretch>
        </p:blipFill>
        <p:spPr>
          <a:xfrm>
            <a:off x="3945087" y="3963375"/>
            <a:ext cx="266273" cy="266273"/>
          </a:xfrm>
          <a:prstGeom prst="rect">
            <a:avLst/>
          </a:prstGeom>
        </p:spPr>
      </p:pic>
      <p:sp>
        <p:nvSpPr>
          <p:cNvPr id="17" name="Text 11"/>
          <p:cNvSpPr txBox="1"/>
          <p:nvPr/>
        </p:nvSpPr>
        <p:spPr>
          <a:xfrm>
            <a:off x="4480560" y="3813048"/>
            <a:ext cx="4206240" cy="658368"/>
          </a:xfrm>
          <a:prstGeom prst="rect">
            <a:avLst/>
          </a:prstGeom>
          <a:noFill/>
          <a:ln/>
        </p:spPr>
        <p:txBody>
          <a:bodyPr wrap="square" lIns="0" tIns="0" rIns="0" bIns="0" rtlCol="0" anchor="t"/>
          <a:lstStyle/>
          <a:p>
            <a:pPr indent="0" marL="0">
              <a:buNone/>
            </a:pPr>
            <a:r>
              <a:rPr lang="en-US" sz="1500" b="1" dirty="0">
                <a:solidFill>
                  <a:srgbClr val="1B2333"/>
                </a:solidFill>
                <a:latin typeface="Montserrat" pitchFamily="34" charset="0"/>
                <a:ea typeface="Montserrat" pitchFamily="34" charset="-122"/>
                <a:cs typeface="Montserrat" pitchFamily="34" charset="-120"/>
              </a:rPr>
              <a:t>Zero infrastruttura in strada</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Niente sensori, beacon o semafori nuovi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Online entro 90 minuti dalla firma, senza server né database</a:t>
            </a:r>
            <a:endParaRPr lang="en-US" sz="2800" dirty="0"/>
          </a:p>
        </p:txBody>
      </p:sp>
      <p:sp>
        <p:nvSpPr>
          <p:cNvPr id="3" name="Shape 1"/>
          <p:cNvSpPr/>
          <p:nvPr/>
        </p:nvSpPr>
        <p:spPr>
          <a:xfrm>
            <a:off x="457200" y="1554480"/>
            <a:ext cx="1783080" cy="502920"/>
          </a:xfrm>
          <a:prstGeom prst="rect">
            <a:avLst/>
          </a:prstGeom>
          <a:solidFill>
            <a:srgbClr val="0B3D91"/>
          </a:solidFill>
          <a:ln/>
        </p:spPr>
      </p:sp>
      <p:sp>
        <p:nvSpPr>
          <p:cNvPr id="4" name="Text 2"/>
          <p:cNvSpPr txBox="1"/>
          <p:nvPr/>
        </p:nvSpPr>
        <p:spPr>
          <a:xfrm>
            <a:off x="566928" y="1554480"/>
            <a:ext cx="1600200" cy="50292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0–20 min</a:t>
            </a:r>
            <a:endParaRPr lang="en-US" sz="1500" dirty="0"/>
          </a:p>
        </p:txBody>
      </p:sp>
      <p:sp>
        <p:nvSpPr>
          <p:cNvPr id="5" name="Text 3"/>
          <p:cNvSpPr txBox="1"/>
          <p:nvPr/>
        </p:nvSpPr>
        <p:spPr>
          <a:xfrm>
            <a:off x="566928" y="2194560"/>
            <a:ext cx="1600200" cy="7315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Collegamento a Cloudflare e prima pubblicazione</a:t>
            </a:r>
            <a:endParaRPr lang="en-US" sz="1400" dirty="0"/>
          </a:p>
        </p:txBody>
      </p:sp>
      <p:sp>
        <p:nvSpPr>
          <p:cNvPr id="6" name="Shape 4"/>
          <p:cNvSpPr/>
          <p:nvPr/>
        </p:nvSpPr>
        <p:spPr>
          <a:xfrm>
            <a:off x="2286000" y="1554480"/>
            <a:ext cx="1783080" cy="502920"/>
          </a:xfrm>
          <a:prstGeom prst="rect">
            <a:avLst/>
          </a:prstGeom>
          <a:solidFill>
            <a:srgbClr val="2F5BA8"/>
          </a:solidFill>
          <a:ln/>
        </p:spPr>
      </p:sp>
      <p:sp>
        <p:nvSpPr>
          <p:cNvPr id="7" name="Text 5"/>
          <p:cNvSpPr txBox="1"/>
          <p:nvPr/>
        </p:nvSpPr>
        <p:spPr>
          <a:xfrm>
            <a:off x="2395728" y="1554480"/>
            <a:ext cx="1600200" cy="50292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20–40 min</a:t>
            </a:r>
            <a:endParaRPr lang="en-US" sz="1500" dirty="0"/>
          </a:p>
        </p:txBody>
      </p:sp>
      <p:sp>
        <p:nvSpPr>
          <p:cNvPr id="8" name="Text 6"/>
          <p:cNvSpPr txBox="1"/>
          <p:nvPr/>
        </p:nvSpPr>
        <p:spPr>
          <a:xfrm>
            <a:off x="2395728" y="2194560"/>
            <a:ext cx="1600200" cy="7315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Chiavi Google e TomTom limitate al dominio</a:t>
            </a:r>
            <a:endParaRPr lang="en-US" sz="1400" dirty="0"/>
          </a:p>
        </p:txBody>
      </p:sp>
      <p:sp>
        <p:nvSpPr>
          <p:cNvPr id="9" name="Shape 7"/>
          <p:cNvSpPr/>
          <p:nvPr/>
        </p:nvSpPr>
        <p:spPr>
          <a:xfrm>
            <a:off x="4114800" y="1554480"/>
            <a:ext cx="2697480" cy="502920"/>
          </a:xfrm>
          <a:prstGeom prst="rect">
            <a:avLst/>
          </a:prstGeom>
          <a:solidFill>
            <a:srgbClr val="5B7FC0"/>
          </a:solidFill>
          <a:ln/>
        </p:spPr>
      </p:sp>
      <p:sp>
        <p:nvSpPr>
          <p:cNvPr id="10" name="Text 8"/>
          <p:cNvSpPr txBox="1"/>
          <p:nvPr/>
        </p:nvSpPr>
        <p:spPr>
          <a:xfrm>
            <a:off x="4224528" y="1554480"/>
            <a:ext cx="2514600" cy="50292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40–70 min</a:t>
            </a:r>
            <a:endParaRPr lang="en-US" sz="1500" dirty="0"/>
          </a:p>
        </p:txBody>
      </p:sp>
      <p:sp>
        <p:nvSpPr>
          <p:cNvPr id="11" name="Text 9"/>
          <p:cNvSpPr txBox="1"/>
          <p:nvPr/>
        </p:nvSpPr>
        <p:spPr>
          <a:xfrm>
            <a:off x="4224528" y="2194560"/>
            <a:ext cx="2514600" cy="7315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Prova su strada di un percorso campione</a:t>
            </a:r>
            <a:endParaRPr lang="en-US" sz="1400" dirty="0"/>
          </a:p>
        </p:txBody>
      </p:sp>
      <p:sp>
        <p:nvSpPr>
          <p:cNvPr id="12" name="Shape 10"/>
          <p:cNvSpPr/>
          <p:nvPr/>
        </p:nvSpPr>
        <p:spPr>
          <a:xfrm>
            <a:off x="6858000" y="1554480"/>
            <a:ext cx="1783080" cy="502920"/>
          </a:xfrm>
          <a:prstGeom prst="rect">
            <a:avLst/>
          </a:prstGeom>
          <a:solidFill>
            <a:srgbClr val="FFD200"/>
          </a:solidFill>
          <a:ln/>
        </p:spPr>
      </p:sp>
      <p:sp>
        <p:nvSpPr>
          <p:cNvPr id="13" name="Text 11"/>
          <p:cNvSpPr txBox="1"/>
          <p:nvPr/>
        </p:nvSpPr>
        <p:spPr>
          <a:xfrm>
            <a:off x="6967728" y="1554480"/>
            <a:ext cx="1600200" cy="502920"/>
          </a:xfrm>
          <a:prstGeom prst="rect">
            <a:avLst/>
          </a:prstGeom>
          <a:noFill/>
          <a:ln/>
        </p:spPr>
        <p:txBody>
          <a:bodyPr wrap="square" lIns="0" tIns="0" rIns="0" bIns="0" rtlCol="0" anchor="ctr"/>
          <a:lstStyle/>
          <a:p>
            <a:pPr indent="0" marL="0">
              <a:buNone/>
            </a:pPr>
            <a:r>
              <a:rPr lang="en-US" sz="1500" b="1" dirty="0">
                <a:solidFill>
                  <a:srgbClr val="1B2333"/>
                </a:solidFill>
                <a:latin typeface="Montserrat" pitchFamily="34" charset="0"/>
                <a:ea typeface="Montserrat" pitchFamily="34" charset="-122"/>
                <a:cs typeface="Montserrat" pitchFamily="34" charset="-120"/>
              </a:rPr>
              <a:t>70–90 min</a:t>
            </a:r>
            <a:endParaRPr lang="en-US" sz="1500" dirty="0"/>
          </a:p>
        </p:txBody>
      </p:sp>
      <p:sp>
        <p:nvSpPr>
          <p:cNvPr id="14" name="Text 12"/>
          <p:cNvSpPr txBox="1"/>
          <p:nvPr/>
        </p:nvSpPr>
        <p:spPr>
          <a:xfrm>
            <a:off x="6967728" y="2194560"/>
            <a:ext cx="1600200" cy="7315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QR code a farmacie, parrocchie e centri anziani</a:t>
            </a:r>
            <a:endParaRPr lang="en-US" sz="1400" dirty="0"/>
          </a:p>
        </p:txBody>
      </p:sp>
      <p:sp>
        <p:nvSpPr>
          <p:cNvPr id="15" name="Shape 13"/>
          <p:cNvSpPr/>
          <p:nvPr/>
        </p:nvSpPr>
        <p:spPr>
          <a:xfrm>
            <a:off x="457200" y="3246120"/>
            <a:ext cx="2606040" cy="1280160"/>
          </a:xfrm>
          <a:prstGeom prst="roundRect">
            <a:avLst>
              <a:gd name="adj" fmla="val 5714"/>
            </a:avLst>
          </a:prstGeom>
          <a:solidFill>
            <a:srgbClr val="E8EEF8"/>
          </a:solidFill>
          <a:ln/>
        </p:spPr>
      </p:sp>
      <p:sp>
        <p:nvSpPr>
          <p:cNvPr id="16" name="Shape 14"/>
          <p:cNvSpPr/>
          <p:nvPr/>
        </p:nvSpPr>
        <p:spPr>
          <a:xfrm>
            <a:off x="640080" y="3401568"/>
            <a:ext cx="457200" cy="457200"/>
          </a:xfrm>
          <a:prstGeom prst="ellipse">
            <a:avLst/>
          </a:prstGeom>
          <a:solidFill>
            <a:srgbClr val="0B3D91"/>
          </a:solidFill>
          <a:ln/>
        </p:spPr>
      </p:sp>
      <p:pic>
        <p:nvPicPr>
          <p:cNvPr id="17" name="Image 0" descr="preencoded.png">    </p:cNvPr>
          <p:cNvPicPr>
            <a:picLocks noChangeAspect="1"/>
          </p:cNvPicPr>
          <p:nvPr/>
        </p:nvPicPr>
        <p:blipFill>
          <a:blip r:embed="rId1"/>
          <a:stretch>
            <a:fillRect/>
          </a:stretch>
        </p:blipFill>
        <p:spPr>
          <a:xfrm>
            <a:off x="740664" y="3502152"/>
            <a:ext cx="256032" cy="256032"/>
          </a:xfrm>
          <a:prstGeom prst="rect">
            <a:avLst/>
          </a:prstGeom>
        </p:spPr>
      </p:pic>
      <p:sp>
        <p:nvSpPr>
          <p:cNvPr id="18" name="Text 15"/>
          <p:cNvSpPr txBox="1"/>
          <p:nvPr/>
        </p:nvSpPr>
        <p:spPr>
          <a:xfrm>
            <a:off x="1234440" y="3383280"/>
            <a:ext cx="1691640" cy="502920"/>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Senza server</a:t>
            </a:r>
            <a:endParaRPr lang="en-US" sz="1500" dirty="0"/>
          </a:p>
        </p:txBody>
      </p:sp>
      <p:sp>
        <p:nvSpPr>
          <p:cNvPr id="19" name="Text 16"/>
          <p:cNvSpPr txBox="1"/>
          <p:nvPr/>
        </p:nvSpPr>
        <p:spPr>
          <a:xfrm>
            <a:off x="640080" y="3977640"/>
            <a:ext cx="2240280" cy="5029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File statici su Cloudflare, HTTPS incluso</a:t>
            </a:r>
            <a:endParaRPr lang="en-US" sz="1400" dirty="0"/>
          </a:p>
        </p:txBody>
      </p:sp>
      <p:sp>
        <p:nvSpPr>
          <p:cNvPr id="20" name="Shape 17"/>
          <p:cNvSpPr/>
          <p:nvPr/>
        </p:nvSpPr>
        <p:spPr>
          <a:xfrm>
            <a:off x="3268980" y="3246120"/>
            <a:ext cx="2606040" cy="1280160"/>
          </a:xfrm>
          <a:prstGeom prst="roundRect">
            <a:avLst>
              <a:gd name="adj" fmla="val 5714"/>
            </a:avLst>
          </a:prstGeom>
          <a:solidFill>
            <a:srgbClr val="E8EEF8"/>
          </a:solidFill>
          <a:ln/>
        </p:spPr>
      </p:sp>
      <p:sp>
        <p:nvSpPr>
          <p:cNvPr id="21" name="Shape 18"/>
          <p:cNvSpPr/>
          <p:nvPr/>
        </p:nvSpPr>
        <p:spPr>
          <a:xfrm>
            <a:off x="3451860" y="3401568"/>
            <a:ext cx="457200" cy="457200"/>
          </a:xfrm>
          <a:prstGeom prst="ellipse">
            <a:avLst/>
          </a:prstGeom>
          <a:solidFill>
            <a:srgbClr val="0B3D91"/>
          </a:solidFill>
          <a:ln/>
        </p:spPr>
      </p:sp>
      <p:pic>
        <p:nvPicPr>
          <p:cNvPr id="22" name="Image 1" descr="preencoded.png">    </p:cNvPr>
          <p:cNvPicPr>
            <a:picLocks noChangeAspect="1"/>
          </p:cNvPicPr>
          <p:nvPr/>
        </p:nvPicPr>
        <p:blipFill>
          <a:blip r:embed="rId2"/>
          <a:stretch>
            <a:fillRect/>
          </a:stretch>
        </p:blipFill>
        <p:spPr>
          <a:xfrm>
            <a:off x="3552444" y="3502152"/>
            <a:ext cx="256032" cy="256032"/>
          </a:xfrm>
          <a:prstGeom prst="rect">
            <a:avLst/>
          </a:prstGeom>
        </p:spPr>
      </p:pic>
      <p:sp>
        <p:nvSpPr>
          <p:cNvPr id="23" name="Text 19"/>
          <p:cNvSpPr txBox="1"/>
          <p:nvPr/>
        </p:nvSpPr>
        <p:spPr>
          <a:xfrm>
            <a:off x="4046220" y="3383280"/>
            <a:ext cx="1691640" cy="502920"/>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Aggiornamenti automatici</a:t>
            </a:r>
            <a:endParaRPr lang="en-US" sz="1500" dirty="0"/>
          </a:p>
        </p:txBody>
      </p:sp>
      <p:sp>
        <p:nvSpPr>
          <p:cNvPr id="24" name="Text 20"/>
          <p:cNvSpPr txBox="1"/>
          <p:nvPr/>
        </p:nvSpPr>
        <p:spPr>
          <a:xfrm>
            <a:off x="3451860" y="3977640"/>
            <a:ext cx="2240280" cy="5029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Si pubblica da solo; si torna indietro con un clic</a:t>
            </a:r>
            <a:endParaRPr lang="en-US" sz="1400" dirty="0"/>
          </a:p>
        </p:txBody>
      </p:sp>
      <p:sp>
        <p:nvSpPr>
          <p:cNvPr id="25" name="Shape 21"/>
          <p:cNvSpPr/>
          <p:nvPr/>
        </p:nvSpPr>
        <p:spPr>
          <a:xfrm>
            <a:off x="6080760" y="3246120"/>
            <a:ext cx="2606040" cy="1280160"/>
          </a:xfrm>
          <a:prstGeom prst="roundRect">
            <a:avLst>
              <a:gd name="adj" fmla="val 5714"/>
            </a:avLst>
          </a:prstGeom>
          <a:solidFill>
            <a:srgbClr val="E8EEF8"/>
          </a:solidFill>
          <a:ln/>
        </p:spPr>
      </p:sp>
      <p:sp>
        <p:nvSpPr>
          <p:cNvPr id="26" name="Shape 22"/>
          <p:cNvSpPr/>
          <p:nvPr/>
        </p:nvSpPr>
        <p:spPr>
          <a:xfrm>
            <a:off x="6263640" y="3401568"/>
            <a:ext cx="457200" cy="457200"/>
          </a:xfrm>
          <a:prstGeom prst="ellipse">
            <a:avLst/>
          </a:prstGeom>
          <a:solidFill>
            <a:srgbClr val="0B3D91"/>
          </a:solidFill>
          <a:ln/>
        </p:spPr>
      </p:sp>
      <p:pic>
        <p:nvPicPr>
          <p:cNvPr id="27" name="Image 2" descr="preencoded.png">    </p:cNvPr>
          <p:cNvPicPr>
            <a:picLocks noChangeAspect="1"/>
          </p:cNvPicPr>
          <p:nvPr/>
        </p:nvPicPr>
        <p:blipFill>
          <a:blip r:embed="rId3"/>
          <a:stretch>
            <a:fillRect/>
          </a:stretch>
        </p:blipFill>
        <p:spPr>
          <a:xfrm>
            <a:off x="6364224" y="3502152"/>
            <a:ext cx="256032" cy="256032"/>
          </a:xfrm>
          <a:prstGeom prst="rect">
            <a:avLst/>
          </a:prstGeom>
        </p:spPr>
      </p:pic>
      <p:sp>
        <p:nvSpPr>
          <p:cNvPr id="28" name="Text 23"/>
          <p:cNvSpPr txBox="1"/>
          <p:nvPr/>
        </p:nvSpPr>
        <p:spPr>
          <a:xfrm>
            <a:off x="6858000" y="3383280"/>
            <a:ext cx="1691640" cy="502920"/>
          </a:xfrm>
          <a:prstGeom prst="rect">
            <a:avLst/>
          </a:prstGeom>
          <a:noFill/>
          <a:ln/>
        </p:spPr>
        <p:txBody>
          <a:bodyPr wrap="square" lIns="0" tIns="0" rIns="0" bIns="0" rtlCol="0" anchor="ctr"/>
          <a:lstStyle/>
          <a:p>
            <a:pPr indent="0" marL="0">
              <a:buNone/>
            </a:pPr>
            <a:r>
              <a:rPr lang="en-US" sz="1500" b="1" dirty="0">
                <a:solidFill>
                  <a:srgbClr val="0B3D91"/>
                </a:solidFill>
                <a:latin typeface="Montserrat" pitchFamily="34" charset="0"/>
                <a:ea typeface="Montserrat" pitchFamily="34" charset="-122"/>
                <a:cs typeface="Montserrat" pitchFamily="34" charset="-120"/>
              </a:rPr>
              <a:t>48 mesi di gestione</a:t>
            </a:r>
            <a:endParaRPr lang="en-US" sz="1500" dirty="0"/>
          </a:p>
        </p:txBody>
      </p:sp>
      <p:sp>
        <p:nvSpPr>
          <p:cNvPr id="29" name="Text 24"/>
          <p:cNvSpPr txBox="1"/>
          <p:nvPr/>
        </p:nvSpPr>
        <p:spPr>
          <a:xfrm>
            <a:off x="6263640" y="3977640"/>
            <a:ext cx="2240280" cy="502920"/>
          </a:xfrm>
          <a:prstGeom prst="rect">
            <a:avLst/>
          </a:prstGeom>
          <a:noFill/>
          <a:ln/>
        </p:spPr>
        <p:txBody>
          <a:bodyPr wrap="square" lIns="0" tIns="0" rIns="0" bIns="0" rtlCol="0" anchor="t"/>
          <a:lstStyle/>
          <a:p>
            <a:pPr indent="0" marL="0">
              <a:buNone/>
            </a:pPr>
            <a:r>
              <a:rPr lang="en-US" sz="1400" dirty="0">
                <a:solidFill>
                  <a:srgbClr val="1B2333"/>
                </a:solidFill>
                <a:latin typeface="Lato" pitchFamily="34" charset="0"/>
                <a:ea typeface="Lato" pitchFamily="34" charset="-122"/>
                <a:cs typeface="Lato" pitchFamily="34" charset="-120"/>
              </a:rPr>
              <a:t>Mappa aggiornata ogni trimestre e report periodici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La posizione resta sul telefono: fuori esce solo il minimo</a:t>
            </a:r>
            <a:endParaRPr lang="en-US" sz="2800" dirty="0"/>
          </a:p>
        </p:txBody>
      </p:sp>
      <p:sp>
        <p:nvSpPr>
          <p:cNvPr id="3" name="Shape 1"/>
          <p:cNvSpPr/>
          <p:nvPr/>
        </p:nvSpPr>
        <p:spPr>
          <a:xfrm>
            <a:off x="457200" y="1508760"/>
            <a:ext cx="3977640" cy="2606040"/>
          </a:xfrm>
          <a:prstGeom prst="roundRect">
            <a:avLst>
              <a:gd name="adj" fmla="val 2807"/>
            </a:avLst>
          </a:prstGeom>
          <a:solidFill>
            <a:srgbClr val="E8EEF8"/>
          </a:solidFill>
          <a:ln/>
        </p:spPr>
      </p:sp>
      <p:sp>
        <p:nvSpPr>
          <p:cNvPr id="4" name="Shape 2"/>
          <p:cNvSpPr/>
          <p:nvPr/>
        </p:nvSpPr>
        <p:spPr>
          <a:xfrm>
            <a:off x="685800" y="1691640"/>
            <a:ext cx="502920" cy="502920"/>
          </a:xfrm>
          <a:prstGeom prst="ellipse">
            <a:avLst/>
          </a:prstGeom>
          <a:solidFill>
            <a:srgbClr val="0B3D91"/>
          </a:solidFill>
          <a:ln/>
        </p:spPr>
      </p:sp>
      <p:pic>
        <p:nvPicPr>
          <p:cNvPr id="5" name="Image 0" descr="preencoded.png">    </p:cNvPr>
          <p:cNvPicPr>
            <a:picLocks noChangeAspect="1"/>
          </p:cNvPicPr>
          <p:nvPr/>
        </p:nvPicPr>
        <p:blipFill>
          <a:blip r:embed="rId1"/>
          <a:stretch>
            <a:fillRect/>
          </a:stretch>
        </p:blipFill>
        <p:spPr>
          <a:xfrm>
            <a:off x="796442" y="1802282"/>
            <a:ext cx="281635" cy="281635"/>
          </a:xfrm>
          <a:prstGeom prst="rect">
            <a:avLst/>
          </a:prstGeom>
        </p:spPr>
      </p:pic>
      <p:sp>
        <p:nvSpPr>
          <p:cNvPr id="6" name="Text 3"/>
          <p:cNvSpPr txBox="1"/>
          <p:nvPr/>
        </p:nvSpPr>
        <p:spPr>
          <a:xfrm>
            <a:off x="1325880" y="1691640"/>
            <a:ext cx="2926080" cy="502920"/>
          </a:xfrm>
          <a:prstGeom prst="rect">
            <a:avLst/>
          </a:prstGeom>
          <a:noFill/>
          <a:ln/>
        </p:spPr>
        <p:txBody>
          <a:bodyPr wrap="square" lIns="0" tIns="0" rIns="0" bIns="0" rtlCol="0" anchor="ctr"/>
          <a:lstStyle/>
          <a:p>
            <a:pPr indent="0" marL="0">
              <a:buNone/>
            </a:pPr>
            <a:r>
              <a:rPr lang="en-US" sz="1600" b="1" dirty="0">
                <a:solidFill>
                  <a:srgbClr val="0B3D91"/>
                </a:solidFill>
                <a:latin typeface="Montserrat" pitchFamily="34" charset="0"/>
                <a:ea typeface="Montserrat" pitchFamily="34" charset="-122"/>
                <a:cs typeface="Montserrat" pitchFamily="34" charset="-120"/>
              </a:rPr>
              <a:t>Resta sul telefono</a:t>
            </a:r>
            <a:endParaRPr lang="en-US" sz="1600" dirty="0"/>
          </a:p>
        </p:txBody>
      </p:sp>
      <p:sp>
        <p:nvSpPr>
          <p:cNvPr id="7" name="Text 4"/>
          <p:cNvSpPr txBox="1"/>
          <p:nvPr/>
        </p:nvSpPr>
        <p:spPr>
          <a:xfrm>
            <a:off x="685800" y="2377440"/>
            <a:ext cx="356616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333"/>
                </a:solidFill>
                <a:latin typeface="Lato" pitchFamily="34" charset="0"/>
                <a:ea typeface="Lato" pitchFamily="34" charset="-122"/>
                <a:cs typeface="Lato" pitchFamily="34" charset="-120"/>
              </a:rPr>
              <a:t>Posizione GPS</a:t>
            </a:r>
            <a:endParaRPr lang="en-US" sz="1500" dirty="0"/>
          </a:p>
          <a:p>
            <a:pPr marL="342900" indent="-342900">
              <a:spcAft>
                <a:spcPts val="600"/>
              </a:spcAft>
              <a:buSzPct val="100000"/>
              <a:buChar char="•"/>
            </a:pPr>
            <a:r>
              <a:rPr lang="en-US" sz="1500" dirty="0">
                <a:solidFill>
                  <a:srgbClr val="1B2333"/>
                </a:solidFill>
                <a:latin typeface="Lato" pitchFamily="34" charset="0"/>
                <a:ea typeface="Lato" pitchFamily="34" charset="-122"/>
                <a:cs typeface="Lato" pitchFamily="34" charset="-120"/>
              </a:rPr>
              <a:t>Posti salvati e indirizzo di casa</a:t>
            </a:r>
            <a:endParaRPr lang="en-US" sz="1500" dirty="0"/>
          </a:p>
          <a:p>
            <a:pPr marL="342900" indent="-342900">
              <a:spcAft>
                <a:spcPts val="600"/>
              </a:spcAft>
              <a:buSzPct val="100000"/>
              <a:buChar char="•"/>
            </a:pPr>
            <a:r>
              <a:rPr lang="en-US" sz="1500" dirty="0">
                <a:solidFill>
                  <a:srgbClr val="1B2333"/>
                </a:solidFill>
                <a:latin typeface="Lato" pitchFamily="34" charset="0"/>
                <a:ea typeface="Lato" pitchFamily="34" charset="-122"/>
                <a:cs typeface="Lato" pitchFamily="34" charset="-120"/>
              </a:rPr>
              <a:t>Cronologia dei viaggi</a:t>
            </a:r>
            <a:endParaRPr lang="en-US" sz="1500" dirty="0"/>
          </a:p>
          <a:p>
            <a:pPr marL="342900" indent="-342900">
              <a:spcAft>
                <a:spcPts val="600"/>
              </a:spcAft>
              <a:buSzPct val="100000"/>
              <a:buChar char="•"/>
            </a:pPr>
            <a:r>
              <a:rPr lang="en-US" sz="1500" dirty="0">
                <a:solidFill>
                  <a:srgbClr val="1B2333"/>
                </a:solidFill>
                <a:latin typeface="Lato" pitchFamily="34" charset="0"/>
                <a:ea typeface="Lato" pitchFamily="34" charset="-122"/>
                <a:cs typeface="Lato" pitchFamily="34" charset="-120"/>
              </a:rPr>
              <a:t>Statistiche di «I miei numeri»</a:t>
            </a:r>
            <a:endParaRPr lang="en-US" sz="1500" dirty="0"/>
          </a:p>
        </p:txBody>
      </p:sp>
      <p:sp>
        <p:nvSpPr>
          <p:cNvPr id="8" name="Shape 5"/>
          <p:cNvSpPr/>
          <p:nvPr/>
        </p:nvSpPr>
        <p:spPr>
          <a:xfrm>
            <a:off x="4709160" y="1508760"/>
            <a:ext cx="3977640" cy="2606040"/>
          </a:xfrm>
          <a:prstGeom prst="roundRect">
            <a:avLst>
              <a:gd name="adj" fmla="val 2807"/>
            </a:avLst>
          </a:prstGeom>
          <a:solidFill>
            <a:srgbClr val="F2F4F7"/>
          </a:solidFill>
          <a:ln/>
        </p:spPr>
      </p:sp>
      <p:sp>
        <p:nvSpPr>
          <p:cNvPr id="9" name="Shape 6"/>
          <p:cNvSpPr/>
          <p:nvPr/>
        </p:nvSpPr>
        <p:spPr>
          <a:xfrm>
            <a:off x="4937760" y="1691640"/>
            <a:ext cx="502920" cy="502920"/>
          </a:xfrm>
          <a:prstGeom prst="ellipse">
            <a:avLst/>
          </a:prstGeom>
          <a:solidFill>
            <a:srgbClr val="5B6B85"/>
          </a:solidFill>
          <a:ln/>
        </p:spPr>
      </p:sp>
      <p:pic>
        <p:nvPicPr>
          <p:cNvPr id="10" name="Image 1" descr="preencoded.png">    </p:cNvPr>
          <p:cNvPicPr>
            <a:picLocks noChangeAspect="1"/>
          </p:cNvPicPr>
          <p:nvPr/>
        </p:nvPicPr>
        <p:blipFill>
          <a:blip r:embed="rId2"/>
          <a:stretch>
            <a:fillRect/>
          </a:stretch>
        </p:blipFill>
        <p:spPr>
          <a:xfrm>
            <a:off x="5048402" y="1802282"/>
            <a:ext cx="281635" cy="281635"/>
          </a:xfrm>
          <a:prstGeom prst="rect">
            <a:avLst/>
          </a:prstGeom>
        </p:spPr>
      </p:pic>
      <p:sp>
        <p:nvSpPr>
          <p:cNvPr id="11" name="Text 7"/>
          <p:cNvSpPr txBox="1"/>
          <p:nvPr/>
        </p:nvSpPr>
        <p:spPr>
          <a:xfrm>
            <a:off x="5577840" y="1691640"/>
            <a:ext cx="2926080" cy="502920"/>
          </a:xfrm>
          <a:prstGeom prst="rect">
            <a:avLst/>
          </a:prstGeom>
          <a:noFill/>
          <a:ln/>
        </p:spPr>
        <p:txBody>
          <a:bodyPr wrap="square" lIns="0" tIns="0" rIns="0" bIns="0" rtlCol="0" anchor="ctr"/>
          <a:lstStyle/>
          <a:p>
            <a:pPr indent="0" marL="0">
              <a:buNone/>
            </a:pPr>
            <a:r>
              <a:rPr lang="en-US" sz="1600" b="1" dirty="0">
                <a:solidFill>
                  <a:srgbClr val="1B2333"/>
                </a:solidFill>
                <a:latin typeface="Montserrat" pitchFamily="34" charset="0"/>
                <a:ea typeface="Montserrat" pitchFamily="34" charset="-122"/>
                <a:cs typeface="Montserrat" pitchFamily="34" charset="-120"/>
              </a:rPr>
              <a:t>Esce, senza identificativi</a:t>
            </a:r>
            <a:endParaRPr lang="en-US" sz="1600" dirty="0"/>
          </a:p>
        </p:txBody>
      </p:sp>
      <p:sp>
        <p:nvSpPr>
          <p:cNvPr id="12" name="Text 8"/>
          <p:cNvSpPr txBox="1"/>
          <p:nvPr/>
        </p:nvSpPr>
        <p:spPr>
          <a:xfrm>
            <a:off x="4937760" y="2377440"/>
            <a:ext cx="3566160" cy="160020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rgbClr val="1B2333"/>
                </a:solidFill>
                <a:latin typeface="Lato" pitchFamily="34" charset="0"/>
                <a:ea typeface="Lato" pitchFamily="34" charset="-122"/>
                <a:cs typeface="Lato" pitchFamily="34" charset="-120"/>
              </a:rPr>
              <a:t>Partenza e arrivo</a:t>
            </a:r>
            <a:pPr indent="0" marL="0">
              <a:spcAft>
                <a:spcPts val="600"/>
              </a:spcAft>
              <a:buNone/>
            </a:pPr>
            <a:r>
              <a:rPr lang="en-US" sz="1500" dirty="0">
                <a:solidFill>
                  <a:srgbClr val="5B6B85"/>
                </a:solidFill>
                <a:latin typeface="Lato" pitchFamily="34" charset="0"/>
                <a:ea typeface="Lato" pitchFamily="34" charset="-122"/>
                <a:cs typeface="Lato" pitchFamily="34" charset="-120"/>
              </a:rPr>
              <a:t> → Google, TomTom</a:t>
            </a:r>
            <a:endParaRPr lang="en-US" sz="1500" dirty="0"/>
          </a:p>
          <a:p>
            <a:pPr marL="342900" indent="-342900">
              <a:spcAft>
                <a:spcPts val="600"/>
              </a:spcAft>
              <a:buSzPct val="100000"/>
              <a:buChar char="•"/>
            </a:pPr>
            <a:r>
              <a:rPr lang="en-US" sz="1500" b="1" dirty="0">
                <a:solidFill>
                  <a:srgbClr val="1B2333"/>
                </a:solidFill>
                <a:latin typeface="Lato" pitchFamily="34" charset="0"/>
                <a:ea typeface="Lato" pitchFamily="34" charset="-122"/>
                <a:cs typeface="Lato" pitchFamily="34" charset="-120"/>
              </a:rPr>
              <a:t>Posizione arrotondata a 1 km</a:t>
            </a:r>
            <a:pPr indent="0" marL="0">
              <a:spcAft>
                <a:spcPts val="600"/>
              </a:spcAft>
              <a:buNone/>
            </a:pPr>
            <a:r>
              <a:rPr lang="en-US" sz="1500" dirty="0">
                <a:solidFill>
                  <a:srgbClr val="5B6B85"/>
                </a:solidFill>
                <a:latin typeface="Lato" pitchFamily="34" charset="0"/>
                <a:ea typeface="Lato" pitchFamily="34" charset="-122"/>
                <a:cs typeface="Lato" pitchFamily="34" charset="-120"/>
              </a:rPr>
              <a:t> → meteo</a:t>
            </a:r>
            <a:endParaRPr lang="en-US" sz="1500" dirty="0"/>
          </a:p>
          <a:p>
            <a:pPr marL="342900" indent="-342900">
              <a:spcAft>
                <a:spcPts val="600"/>
              </a:spcAft>
              <a:buSzPct val="100000"/>
              <a:buChar char="•"/>
            </a:pPr>
            <a:r>
              <a:rPr lang="en-US" sz="1500" b="1" dirty="0">
                <a:solidFill>
                  <a:srgbClr val="1B2333"/>
                </a:solidFill>
                <a:latin typeface="Lato" pitchFamily="34" charset="0"/>
                <a:ea typeface="Lato" pitchFamily="34" charset="-122"/>
                <a:cs typeface="Lato" pitchFamily="34" charset="-120"/>
              </a:rPr>
              <a:t>Richieste della pagina</a:t>
            </a:r>
            <a:pPr indent="0" marL="0">
              <a:spcAft>
                <a:spcPts val="600"/>
              </a:spcAft>
              <a:buNone/>
            </a:pPr>
            <a:r>
              <a:rPr lang="en-US" sz="1500" dirty="0">
                <a:solidFill>
                  <a:srgbClr val="5B6B85"/>
                </a:solidFill>
                <a:latin typeface="Lato" pitchFamily="34" charset="0"/>
                <a:ea typeface="Lato" pitchFamily="34" charset="-122"/>
                <a:cs typeface="Lato" pitchFamily="34" charset="-120"/>
              </a:rPr>
              <a:t> → Cloudflare</a:t>
            </a:r>
            <a:endParaRPr lang="en-US" sz="1500" dirty="0"/>
          </a:p>
        </p:txBody>
      </p:sp>
      <p:sp>
        <p:nvSpPr>
          <p:cNvPr id="13" name="Text 9"/>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400" b="1" dirty="0">
                <a:solidFill>
                  <a:srgbClr val="0B3D91"/>
                </a:solidFill>
                <a:latin typeface="Montserrat" pitchFamily="34" charset="0"/>
                <a:ea typeface="Montserrat" pitchFamily="34" charset="-122"/>
                <a:cs typeface="Montserrat" pitchFamily="34" charset="-120"/>
              </a:rPr>
              <a:t>Nessun account, nessun database, nessuna profilazione · GDPR artt. 5 e 25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L'infrastruttura costa quasi zero: il contratto finanzia la formazione</a:t>
            </a:r>
            <a:endParaRPr lang="en-US" sz="2800" dirty="0"/>
          </a:p>
        </p:txBody>
      </p:sp>
      <p:sp>
        <p:nvSpPr>
          <p:cNvPr id="3" name="Shape 1"/>
          <p:cNvSpPr/>
          <p:nvPr/>
        </p:nvSpPr>
        <p:spPr>
          <a:xfrm>
            <a:off x="457200" y="1554480"/>
            <a:ext cx="8229600" cy="731520"/>
          </a:xfrm>
          <a:prstGeom prst="roundRect">
            <a:avLst>
              <a:gd name="adj" fmla="val 10000"/>
            </a:avLst>
          </a:prstGeom>
          <a:solidFill>
            <a:srgbClr val="F2F4F7"/>
          </a:solidFill>
          <a:ln/>
        </p:spPr>
      </p:sp>
      <p:sp>
        <p:nvSpPr>
          <p:cNvPr id="4" name="Text 2"/>
          <p:cNvSpPr txBox="1"/>
          <p:nvPr/>
        </p:nvSpPr>
        <p:spPr>
          <a:xfrm>
            <a:off x="685800" y="1554480"/>
            <a:ext cx="2743200" cy="731520"/>
          </a:xfrm>
          <a:prstGeom prst="rect">
            <a:avLst/>
          </a:prstGeom>
          <a:noFill/>
          <a:ln/>
        </p:spPr>
        <p:txBody>
          <a:bodyPr wrap="square" lIns="0" tIns="0" rIns="0" bIns="0" rtlCol="0" anchor="ctr"/>
          <a:lstStyle/>
          <a:p>
            <a:pPr indent="0" marL="0">
              <a:buNone/>
            </a:pPr>
            <a:r>
              <a:rPr lang="en-US" sz="2400" b="1" dirty="0">
                <a:solidFill>
                  <a:srgbClr val="0B3D91"/>
                </a:solidFill>
                <a:latin typeface="Montserrat" pitchFamily="34" charset="0"/>
                <a:ea typeface="Montserrat" pitchFamily="34" charset="-122"/>
                <a:cs typeface="Montserrat" pitchFamily="34" charset="-120"/>
              </a:rPr>
              <a:t>0 €</a:t>
            </a:r>
            <a:endParaRPr lang="en-US" sz="2400" dirty="0"/>
          </a:p>
        </p:txBody>
      </p:sp>
      <p:sp>
        <p:nvSpPr>
          <p:cNvPr id="5" name="Text 3"/>
          <p:cNvSpPr txBox="1"/>
          <p:nvPr/>
        </p:nvSpPr>
        <p:spPr>
          <a:xfrm>
            <a:off x="3566160" y="1554480"/>
            <a:ext cx="4937760" cy="731520"/>
          </a:xfrm>
          <a:prstGeom prst="rect">
            <a:avLst/>
          </a:prstGeom>
          <a:noFill/>
          <a:ln/>
        </p:spPr>
        <p:txBody>
          <a:bodyPr wrap="square" lIns="0" tIns="0" rIns="0" bIns="0" rtlCol="0" anchor="ctr"/>
          <a:lstStyle/>
          <a:p>
            <a:pPr indent="0" marL="0">
              <a:buNone/>
            </a:pPr>
            <a:r>
              <a:rPr lang="en-US" sz="1500" b="1" dirty="0">
                <a:solidFill>
                  <a:srgbClr val="1B2333"/>
                </a:solidFill>
                <a:latin typeface="Lato" pitchFamily="34" charset="0"/>
                <a:ea typeface="Lato" pitchFamily="34" charset="-122"/>
                <a:cs typeface="Lato" pitchFamily="34" charset="-120"/>
              </a:rPr>
              <a:t>Hosting su Cloudflare</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Le richieste ai file statici sono gratuite e illimitate</a:t>
            </a:r>
            <a:endParaRPr lang="en-US" sz="1400" dirty="0"/>
          </a:p>
        </p:txBody>
      </p:sp>
      <p:sp>
        <p:nvSpPr>
          <p:cNvPr id="6" name="Shape 4"/>
          <p:cNvSpPr/>
          <p:nvPr/>
        </p:nvSpPr>
        <p:spPr>
          <a:xfrm>
            <a:off x="457200" y="2423160"/>
            <a:ext cx="8229600" cy="731520"/>
          </a:xfrm>
          <a:prstGeom prst="roundRect">
            <a:avLst>
              <a:gd name="adj" fmla="val 10000"/>
            </a:avLst>
          </a:prstGeom>
          <a:solidFill>
            <a:srgbClr val="FFFFFF"/>
          </a:solidFill>
          <a:ln/>
        </p:spPr>
      </p:sp>
      <p:sp>
        <p:nvSpPr>
          <p:cNvPr id="7" name="Text 5"/>
          <p:cNvSpPr txBox="1"/>
          <p:nvPr/>
        </p:nvSpPr>
        <p:spPr>
          <a:xfrm>
            <a:off x="685800" y="2423160"/>
            <a:ext cx="2743200" cy="731520"/>
          </a:xfrm>
          <a:prstGeom prst="rect">
            <a:avLst/>
          </a:prstGeom>
          <a:noFill/>
          <a:ln/>
        </p:spPr>
        <p:txBody>
          <a:bodyPr wrap="square" lIns="0" tIns="0" rIns="0" bIns="0" rtlCol="0" anchor="ctr"/>
          <a:lstStyle/>
          <a:p>
            <a:pPr indent="0" marL="0">
              <a:buNone/>
            </a:pPr>
            <a:r>
              <a:rPr lang="en-US" sz="2400" b="1" dirty="0">
                <a:solidFill>
                  <a:srgbClr val="0B3D91"/>
                </a:solidFill>
                <a:latin typeface="Montserrat" pitchFamily="34" charset="0"/>
                <a:ea typeface="Montserrat" pitchFamily="34" charset="-122"/>
                <a:cs typeface="Montserrat" pitchFamily="34" charset="-120"/>
              </a:rPr>
              <a:t>Quota gratuita</a:t>
            </a:r>
            <a:endParaRPr lang="en-US" sz="2400" dirty="0"/>
          </a:p>
        </p:txBody>
      </p:sp>
      <p:sp>
        <p:nvSpPr>
          <p:cNvPr id="8" name="Text 6"/>
          <p:cNvSpPr txBox="1"/>
          <p:nvPr/>
        </p:nvSpPr>
        <p:spPr>
          <a:xfrm>
            <a:off x="3566160" y="2423160"/>
            <a:ext cx="4937760" cy="731520"/>
          </a:xfrm>
          <a:prstGeom prst="rect">
            <a:avLst/>
          </a:prstGeom>
          <a:noFill/>
          <a:ln/>
        </p:spPr>
        <p:txBody>
          <a:bodyPr wrap="square" lIns="0" tIns="0" rIns="0" bIns="0" rtlCol="0" anchor="ctr"/>
          <a:lstStyle/>
          <a:p>
            <a:pPr indent="0" marL="0">
              <a:buNone/>
            </a:pPr>
            <a:r>
              <a:rPr lang="en-US" sz="1500" b="1" dirty="0">
                <a:solidFill>
                  <a:srgbClr val="1B2333"/>
                </a:solidFill>
                <a:latin typeface="Lato" pitchFamily="34" charset="0"/>
                <a:ea typeface="Lato" pitchFamily="34" charset="-122"/>
                <a:cs typeface="Lato" pitchFamily="34" charset="-120"/>
              </a:rPr>
              <a:t>Google Maps Platform</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Durante il pilota; poi a consumo, in base ai percorsi</a:t>
            </a:r>
            <a:endParaRPr lang="en-US" sz="1400" dirty="0"/>
          </a:p>
        </p:txBody>
      </p:sp>
      <p:sp>
        <p:nvSpPr>
          <p:cNvPr id="9" name="Shape 7"/>
          <p:cNvSpPr/>
          <p:nvPr/>
        </p:nvSpPr>
        <p:spPr>
          <a:xfrm>
            <a:off x="457200" y="3291840"/>
            <a:ext cx="8229600" cy="731520"/>
          </a:xfrm>
          <a:prstGeom prst="roundRect">
            <a:avLst>
              <a:gd name="adj" fmla="val 10000"/>
            </a:avLst>
          </a:prstGeom>
          <a:solidFill>
            <a:srgbClr val="F2F4F7"/>
          </a:solidFill>
          <a:ln/>
        </p:spPr>
      </p:sp>
      <p:sp>
        <p:nvSpPr>
          <p:cNvPr id="10" name="Text 8"/>
          <p:cNvSpPr txBox="1"/>
          <p:nvPr/>
        </p:nvSpPr>
        <p:spPr>
          <a:xfrm>
            <a:off x="685800" y="3291840"/>
            <a:ext cx="2743200" cy="731520"/>
          </a:xfrm>
          <a:prstGeom prst="rect">
            <a:avLst/>
          </a:prstGeom>
          <a:noFill/>
          <a:ln/>
        </p:spPr>
        <p:txBody>
          <a:bodyPr wrap="square" lIns="0" tIns="0" rIns="0" bIns="0" rtlCol="0" anchor="ctr"/>
          <a:lstStyle/>
          <a:p>
            <a:pPr indent="0" marL="0">
              <a:buNone/>
            </a:pPr>
            <a:r>
              <a:rPr lang="en-US" sz="2400" b="1" dirty="0">
                <a:solidFill>
                  <a:srgbClr val="0B3D91"/>
                </a:solidFill>
                <a:latin typeface="Montserrat" pitchFamily="34" charset="0"/>
                <a:ea typeface="Montserrat" pitchFamily="34" charset="-122"/>
                <a:cs typeface="Montserrat" pitchFamily="34" charset="-120"/>
              </a:rPr>
              <a:t>0 €</a:t>
            </a:r>
            <a:endParaRPr lang="en-US" sz="2400" dirty="0"/>
          </a:p>
        </p:txBody>
      </p:sp>
      <p:sp>
        <p:nvSpPr>
          <p:cNvPr id="11" name="Text 9"/>
          <p:cNvSpPr txBox="1"/>
          <p:nvPr/>
        </p:nvSpPr>
        <p:spPr>
          <a:xfrm>
            <a:off x="3566160" y="3291840"/>
            <a:ext cx="4937760" cy="731520"/>
          </a:xfrm>
          <a:prstGeom prst="rect">
            <a:avLst/>
          </a:prstGeom>
          <a:noFill/>
          <a:ln/>
        </p:spPr>
        <p:txBody>
          <a:bodyPr wrap="square" lIns="0" tIns="0" rIns="0" bIns="0" rtlCol="0" anchor="ctr"/>
          <a:lstStyle/>
          <a:p>
            <a:pPr indent="0" marL="0">
              <a:buNone/>
            </a:pPr>
            <a:r>
              <a:rPr lang="en-US" sz="1500" b="1" dirty="0">
                <a:solidFill>
                  <a:srgbClr val="1B2333"/>
                </a:solidFill>
                <a:latin typeface="Lato" pitchFamily="34" charset="0"/>
                <a:ea typeface="Lato" pitchFamily="34" charset="-122"/>
                <a:cs typeface="Lato" pitchFamily="34" charset="-120"/>
              </a:rPr>
              <a:t>TomTom Traffic Incidents</a:t>
            </a:r>
            <a:endParaRPr lang="en-US" sz="1400" dirty="0"/>
          </a:p>
          <a:p>
            <a:pPr indent="0" marL="0">
              <a:buNone/>
            </a:pPr>
            <a:r>
              <a:rPr lang="en-US" sz="1400" dirty="0">
                <a:solidFill>
                  <a:srgbClr val="5B6B85"/>
                </a:solidFill>
                <a:latin typeface="Lato" pitchFamily="34" charset="0"/>
                <a:ea typeface="Lato" pitchFamily="34" charset="-122"/>
                <a:cs typeface="Lato" pitchFamily="34" charset="-120"/>
              </a:rPr>
              <a:t>Piano gratuito per cantieri e incidenti</a:t>
            </a:r>
            <a:endParaRPr lang="en-US" sz="1400" dirty="0"/>
          </a:p>
        </p:txBody>
      </p:sp>
      <p:sp>
        <p:nvSpPr>
          <p:cNvPr id="12" name="Text 10"/>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500" dirty="0">
                <a:solidFill>
                  <a:srgbClr val="1B2333"/>
                </a:solidFill>
                <a:latin typeface="Lato" pitchFamily="34" charset="0"/>
                <a:ea typeface="Lato" pitchFamily="34" charset="-122"/>
                <a:cs typeface="Lato" pitchFamily="34" charset="-120"/>
              </a:rPr>
              <a:t>Nessun server applicativo, database o apparato in strada da acquistare: la quota del contratto va a diffusione, formazione dei cittadini e gestione per 48 mesi.</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960120"/>
          </a:xfrm>
          <a:prstGeom prst="rect">
            <a:avLst/>
          </a:prstGeom>
          <a:noFill/>
          <a:ln/>
        </p:spPr>
        <p:txBody>
          <a:bodyPr wrap="square" lIns="0" tIns="0" rIns="0" bIns="0" rtlCol="0" anchor="t"/>
          <a:lstStyle/>
          <a:p>
            <a:pPr indent="0" marL="0">
              <a:buNone/>
            </a:pPr>
            <a:r>
              <a:rPr lang="en-US" sz="2800" b="1" dirty="0">
                <a:solidFill>
                  <a:srgbClr val="1B2333"/>
                </a:solidFill>
                <a:latin typeface="Montserrat" pitchFamily="34" charset="0"/>
                <a:ea typeface="Montserrat" pitchFamily="34" charset="-122"/>
                <a:cs typeface="Montserrat" pitchFamily="34" charset="-120"/>
              </a:rPr>
              <a:t>Limiti noti e sviluppi previsti</a:t>
            </a:r>
            <a:endParaRPr lang="en-US" sz="2800" dirty="0"/>
          </a:p>
        </p:txBody>
      </p:sp>
      <p:sp>
        <p:nvSpPr>
          <p:cNvPr id="3" name="Shape 1"/>
          <p:cNvSpPr/>
          <p:nvPr/>
        </p:nvSpPr>
        <p:spPr>
          <a:xfrm>
            <a:off x="457200" y="1508760"/>
            <a:ext cx="3977640" cy="3063240"/>
          </a:xfrm>
          <a:prstGeom prst="roundRect">
            <a:avLst>
              <a:gd name="adj" fmla="val 2388"/>
            </a:avLst>
          </a:prstGeom>
          <a:solidFill>
            <a:srgbClr val="F2F4F7"/>
          </a:solidFill>
          <a:ln/>
        </p:spPr>
      </p:sp>
      <p:sp>
        <p:nvSpPr>
          <p:cNvPr id="4" name="Shape 2"/>
          <p:cNvSpPr/>
          <p:nvPr/>
        </p:nvSpPr>
        <p:spPr>
          <a:xfrm>
            <a:off x="685800" y="1691640"/>
            <a:ext cx="457200" cy="457200"/>
          </a:xfrm>
          <a:prstGeom prst="ellipse">
            <a:avLst/>
          </a:prstGeom>
          <a:solidFill>
            <a:srgbClr val="5B6B85"/>
          </a:solidFill>
          <a:ln/>
        </p:spPr>
      </p:sp>
      <p:pic>
        <p:nvPicPr>
          <p:cNvPr id="5" name="Image 0" descr="preencoded.png">    </p:cNvPr>
          <p:cNvPicPr>
            <a:picLocks noChangeAspect="1"/>
          </p:cNvPicPr>
          <p:nvPr/>
        </p:nvPicPr>
        <p:blipFill>
          <a:blip r:embed="rId1"/>
          <a:stretch>
            <a:fillRect/>
          </a:stretch>
        </p:blipFill>
        <p:spPr>
          <a:xfrm>
            <a:off x="786384" y="1792224"/>
            <a:ext cx="256032" cy="256032"/>
          </a:xfrm>
          <a:prstGeom prst="rect">
            <a:avLst/>
          </a:prstGeom>
        </p:spPr>
      </p:pic>
      <p:sp>
        <p:nvSpPr>
          <p:cNvPr id="6" name="Text 3"/>
          <p:cNvSpPr txBox="1"/>
          <p:nvPr/>
        </p:nvSpPr>
        <p:spPr>
          <a:xfrm>
            <a:off x="1280160" y="1691640"/>
            <a:ext cx="2926080" cy="457200"/>
          </a:xfrm>
          <a:prstGeom prst="rect">
            <a:avLst/>
          </a:prstGeom>
          <a:noFill/>
          <a:ln/>
        </p:spPr>
        <p:txBody>
          <a:bodyPr wrap="square" lIns="0" tIns="0" rIns="0" bIns="0" rtlCol="0" anchor="ctr"/>
          <a:lstStyle/>
          <a:p>
            <a:pPr indent="0" marL="0">
              <a:buNone/>
            </a:pPr>
            <a:r>
              <a:rPr lang="en-US" sz="1600" b="1" dirty="0">
                <a:solidFill>
                  <a:srgbClr val="1B2333"/>
                </a:solidFill>
                <a:latin typeface="Montserrat" pitchFamily="34" charset="0"/>
                <a:ea typeface="Montserrat" pitchFamily="34" charset="-122"/>
                <a:cs typeface="Montserrat" pitchFamily="34" charset="-120"/>
              </a:rPr>
              <a:t>Limiti del prototipo</a:t>
            </a:r>
            <a:endParaRPr lang="en-US" sz="1600" dirty="0"/>
          </a:p>
        </p:txBody>
      </p:sp>
      <p:sp>
        <p:nvSpPr>
          <p:cNvPr id="7" name="Text 4"/>
          <p:cNvSpPr txBox="1"/>
          <p:nvPr/>
        </p:nvSpPr>
        <p:spPr>
          <a:xfrm>
            <a:off x="685800" y="2331720"/>
            <a:ext cx="35661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333"/>
                </a:solidFill>
                <a:latin typeface="Lato" pitchFamily="34" charset="0"/>
                <a:ea typeface="Lato" pitchFamily="34" charset="-122"/>
                <a:cs typeface="Lato" pitchFamily="34" charset="-120"/>
              </a:rPr>
              <a:t>Su iPhone niente vibrazione; notifiche solo con l'app sulla Home</a:t>
            </a:r>
            <a:endParaRPr lang="en-US" sz="1400" dirty="0"/>
          </a:p>
          <a:p>
            <a:pPr marL="342900" indent="-342900">
              <a:spcAft>
                <a:spcPts val="800"/>
              </a:spcAft>
              <a:buSzPct val="100000"/>
              <a:buChar char="•"/>
            </a:pPr>
            <a:r>
              <a:rPr lang="en-US" sz="1400" dirty="0">
                <a:solidFill>
                  <a:srgbClr val="1B2333"/>
                </a:solidFill>
                <a:latin typeface="Lato" pitchFamily="34" charset="0"/>
                <a:ea typeface="Lato" pitchFamily="34" charset="-122"/>
                <a:cs typeface="Lato" pitchFamily="34" charset="-120"/>
              </a:rPr>
              <a:t>Comando vocale su iPhone solo con Siri attivo</a:t>
            </a:r>
            <a:endParaRPr lang="en-US" sz="1400" dirty="0"/>
          </a:p>
          <a:p>
            <a:pPr marL="342900" indent="-342900">
              <a:spcAft>
                <a:spcPts val="800"/>
              </a:spcAft>
              <a:buSzPct val="100000"/>
              <a:buChar char="•"/>
            </a:pPr>
            <a:r>
              <a:rPr lang="en-US" sz="1400" dirty="0">
                <a:solidFill>
                  <a:srgbClr val="1B2333"/>
                </a:solidFill>
                <a:latin typeface="Lato" pitchFamily="34" charset="0"/>
                <a:ea typeface="Lato" pitchFamily="34" charset="-122"/>
                <a:cs typeface="Lato" pitchFamily="34" charset="-120"/>
              </a:rPr>
              <a:t>Strisce e semafori dipendono da OSM: censimento con la Polizia Locale</a:t>
            </a:r>
            <a:endParaRPr lang="en-US" sz="1400" dirty="0"/>
          </a:p>
          <a:p>
            <a:pPr marL="342900" indent="-342900">
              <a:spcAft>
                <a:spcPts val="800"/>
              </a:spcAft>
              <a:buSzPct val="100000"/>
              <a:buChar char="•"/>
            </a:pPr>
            <a:r>
              <a:rPr lang="en-US" sz="1400" dirty="0">
                <a:solidFill>
                  <a:srgbClr val="1B2333"/>
                </a:solidFill>
                <a:latin typeface="Lato" pitchFamily="34" charset="0"/>
                <a:ea typeface="Lato" pitchFamily="34" charset="-122"/>
                <a:cs typeface="Lato" pitchFamily="34" charset="-120"/>
              </a:rPr>
              <a:t>Nei piccoli comuni TomTom può non avere segnalazioni</a:t>
            </a:r>
            <a:endParaRPr lang="en-US" sz="1400" dirty="0"/>
          </a:p>
        </p:txBody>
      </p:sp>
      <p:sp>
        <p:nvSpPr>
          <p:cNvPr id="8" name="Shape 5"/>
          <p:cNvSpPr/>
          <p:nvPr/>
        </p:nvSpPr>
        <p:spPr>
          <a:xfrm>
            <a:off x="4709160" y="1508760"/>
            <a:ext cx="3977640" cy="3063240"/>
          </a:xfrm>
          <a:prstGeom prst="roundRect">
            <a:avLst>
              <a:gd name="adj" fmla="val 2388"/>
            </a:avLst>
          </a:prstGeom>
          <a:solidFill>
            <a:srgbClr val="E8EEF8"/>
          </a:solidFill>
          <a:ln/>
        </p:spPr>
      </p:sp>
      <p:sp>
        <p:nvSpPr>
          <p:cNvPr id="9" name="Shape 6"/>
          <p:cNvSpPr/>
          <p:nvPr/>
        </p:nvSpPr>
        <p:spPr>
          <a:xfrm>
            <a:off x="4937760" y="1691640"/>
            <a:ext cx="457200" cy="457200"/>
          </a:xfrm>
          <a:prstGeom prst="ellipse">
            <a:avLst/>
          </a:prstGeom>
          <a:solidFill>
            <a:srgbClr val="0B3D91"/>
          </a:solidFill>
          <a:ln/>
        </p:spPr>
      </p:sp>
      <p:pic>
        <p:nvPicPr>
          <p:cNvPr id="10" name="Image 1" descr="preencoded.png">    </p:cNvPr>
          <p:cNvPicPr>
            <a:picLocks noChangeAspect="1"/>
          </p:cNvPicPr>
          <p:nvPr/>
        </p:nvPicPr>
        <p:blipFill>
          <a:blip r:embed="rId2"/>
          <a:stretch>
            <a:fillRect/>
          </a:stretch>
        </p:blipFill>
        <p:spPr>
          <a:xfrm>
            <a:off x="5038344" y="1792224"/>
            <a:ext cx="256032" cy="256032"/>
          </a:xfrm>
          <a:prstGeom prst="rect">
            <a:avLst/>
          </a:prstGeom>
        </p:spPr>
      </p:pic>
      <p:sp>
        <p:nvSpPr>
          <p:cNvPr id="11" name="Text 7"/>
          <p:cNvSpPr txBox="1"/>
          <p:nvPr/>
        </p:nvSpPr>
        <p:spPr>
          <a:xfrm>
            <a:off x="5532120" y="1691640"/>
            <a:ext cx="2926080" cy="457200"/>
          </a:xfrm>
          <a:prstGeom prst="rect">
            <a:avLst/>
          </a:prstGeom>
          <a:noFill/>
          <a:ln/>
        </p:spPr>
        <p:txBody>
          <a:bodyPr wrap="square" lIns="0" tIns="0" rIns="0" bIns="0" rtlCol="0" anchor="ctr"/>
          <a:lstStyle/>
          <a:p>
            <a:pPr indent="0" marL="0">
              <a:buNone/>
            </a:pPr>
            <a:r>
              <a:rPr lang="en-US" sz="1600" b="1" dirty="0">
                <a:solidFill>
                  <a:srgbClr val="0B3D91"/>
                </a:solidFill>
                <a:latin typeface="Montserrat" pitchFamily="34" charset="0"/>
                <a:ea typeface="Montserrat" pitchFamily="34" charset="-122"/>
                <a:cs typeface="Montserrat" pitchFamily="34" charset="-120"/>
              </a:rPr>
              <a:t>Sviluppi previsti</a:t>
            </a:r>
            <a:endParaRPr lang="en-US" sz="1600" dirty="0"/>
          </a:p>
        </p:txBody>
      </p:sp>
      <p:sp>
        <p:nvSpPr>
          <p:cNvPr id="12" name="Text 8"/>
          <p:cNvSpPr txBox="1"/>
          <p:nvPr/>
        </p:nvSpPr>
        <p:spPr>
          <a:xfrm>
            <a:off x="4937760" y="2331720"/>
            <a:ext cx="35661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333"/>
                </a:solidFill>
                <a:latin typeface="Lato" pitchFamily="34" charset="0"/>
                <a:ea typeface="Lato" pitchFamily="34" charset="-122"/>
                <a:cs typeface="Lato" pitchFamily="34" charset="-120"/>
              </a:rPr>
              <a:t>Avviso a un familiare all'arrivo, con consenso</a:t>
            </a:r>
            <a:endParaRPr lang="en-US" sz="1400" dirty="0"/>
          </a:p>
          <a:p>
            <a:pPr marL="342900" indent="-342900">
              <a:spcAft>
                <a:spcPts val="800"/>
              </a:spcAft>
              <a:buSzPct val="100000"/>
              <a:buChar char="•"/>
            </a:pPr>
            <a:r>
              <a:rPr lang="en-US" sz="1400" dirty="0">
                <a:solidFill>
                  <a:srgbClr val="1B2333"/>
                </a:solidFill>
                <a:latin typeface="Lato" pitchFamily="34" charset="0"/>
                <a:ea typeface="Lato" pitchFamily="34" charset="-122"/>
                <a:cs typeface="Lato" pitchFamily="34" charset="-120"/>
              </a:rPr>
              <a:t>Modalità notturna e ad alta visibilità</a:t>
            </a:r>
            <a:endParaRPr lang="en-US" sz="1400" dirty="0"/>
          </a:p>
          <a:p>
            <a:pPr marL="342900" indent="-342900">
              <a:spcAft>
                <a:spcPts val="800"/>
              </a:spcAft>
              <a:buSzPct val="100000"/>
              <a:buChar char="•"/>
            </a:pPr>
            <a:r>
              <a:rPr lang="en-US" sz="1400" dirty="0">
                <a:solidFill>
                  <a:srgbClr val="1B2333"/>
                </a:solidFill>
                <a:latin typeface="Lato" pitchFamily="34" charset="0"/>
                <a:ea typeface="Lato" pitchFamily="34" charset="-122"/>
                <a:cs typeface="Lato" pitchFamily="34" charset="-120"/>
              </a:rPr>
              <a:t>Ordinanze di viabilità del Comune inserite direttamente</a:t>
            </a:r>
            <a:endParaRPr lang="en-US" sz="1400" dirty="0"/>
          </a:p>
          <a:p>
            <a:pPr marL="342900" indent="-342900">
              <a:spcAft>
                <a:spcPts val="800"/>
              </a:spcAft>
              <a:buSzPct val="100000"/>
              <a:buChar char="•"/>
            </a:pPr>
            <a:r>
              <a:rPr lang="en-US" sz="1400" dirty="0">
                <a:solidFill>
                  <a:srgbClr val="1B2333"/>
                </a:solidFill>
                <a:latin typeface="Lato" pitchFamily="34" charset="0"/>
                <a:ea typeface="Lato" pitchFamily="34" charset="-122"/>
                <a:cs typeface="Lato" pitchFamily="34" charset="-120"/>
              </a:rPr>
              <a:t>Integrazione con i semafori intelligenti, se installati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5"/>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685800"/>
            <a:ext cx="1097280" cy="1097280"/>
          </a:xfrm>
          <a:prstGeom prst="rect">
            <a:avLst/>
          </a:prstGeom>
        </p:spPr>
      </p:pic>
      <p:sp>
        <p:nvSpPr>
          <p:cNvPr id="3" name="Text 0"/>
          <p:cNvSpPr txBox="1"/>
          <p:nvPr/>
        </p:nvSpPr>
        <p:spPr>
          <a:xfrm>
            <a:off x="457200" y="1965960"/>
            <a:ext cx="8229600" cy="685800"/>
          </a:xfrm>
          <a:prstGeom prst="rect">
            <a:avLst/>
          </a:prstGeom>
          <a:noFill/>
          <a:ln/>
        </p:spPr>
        <p:txBody>
          <a:bodyPr wrap="square" lIns="0" tIns="0" rIns="0" bIns="0" rtlCol="0" anchor="t"/>
          <a:lstStyle/>
          <a:p>
            <a:pPr algn="ctr" indent="0" marL="0">
              <a:buNone/>
            </a:pPr>
            <a:r>
              <a:rPr lang="en-US" sz="3600" b="1" dirty="0">
                <a:solidFill>
                  <a:srgbClr val="FFFFFF"/>
                </a:solidFill>
                <a:latin typeface="Montserrat" pitchFamily="34" charset="0"/>
                <a:ea typeface="Montserrat" pitchFamily="34" charset="-122"/>
                <a:cs typeface="Montserrat" pitchFamily="34" charset="-120"/>
              </a:rPr>
              <a:t>Sicuro oggi funziona già</a:t>
            </a:r>
            <a:endParaRPr lang="en-US" sz="3600" dirty="0"/>
          </a:p>
        </p:txBody>
      </p:sp>
      <p:sp>
        <p:nvSpPr>
          <p:cNvPr id="4" name="Text 1"/>
          <p:cNvSpPr txBox="1"/>
          <p:nvPr/>
        </p:nvSpPr>
        <p:spPr>
          <a:xfrm>
            <a:off x="1143000" y="2743200"/>
            <a:ext cx="6858000" cy="685800"/>
          </a:xfrm>
          <a:prstGeom prst="rect">
            <a:avLst/>
          </a:prstGeom>
          <a:noFill/>
          <a:ln/>
        </p:spPr>
        <p:txBody>
          <a:bodyPr wrap="square" lIns="0" tIns="0" rIns="0" bIns="0" rtlCol="0" anchor="t"/>
          <a:lstStyle/>
          <a:p>
            <a:pPr algn="ctr" indent="0" marL="0">
              <a:buNone/>
            </a:pPr>
            <a:r>
              <a:rPr lang="en-US" sz="1800" dirty="0">
                <a:solidFill>
                  <a:srgbClr val="DCE4F2"/>
                </a:solidFill>
                <a:latin typeface="Lato" pitchFamily="34" charset="0"/>
                <a:ea typeface="Lato" pitchFamily="34" charset="-122"/>
                <a:cs typeface="Lato" pitchFamily="34" charset="-120"/>
              </a:rPr>
              <a:t>La demo gira sul comune pilota di Prevalle (BS) e si installa da un link, senza app store.</a:t>
            </a:r>
            <a:endParaRPr lang="en-US" sz="1800" dirty="0"/>
          </a:p>
        </p:txBody>
      </p:sp>
      <p:sp>
        <p:nvSpPr>
          <p:cNvPr id="5" name="Text 2"/>
          <p:cNvSpPr txBox="1"/>
          <p:nvPr/>
        </p:nvSpPr>
        <p:spPr>
          <a:xfrm>
            <a:off x="457200" y="4069080"/>
            <a:ext cx="8229600" cy="365760"/>
          </a:xfrm>
          <a:prstGeom prst="rect">
            <a:avLst/>
          </a:prstGeom>
          <a:noFill/>
          <a:ln/>
        </p:spPr>
        <p:txBody>
          <a:bodyPr wrap="square" lIns="0" tIns="0" rIns="0" bIns="0" rtlCol="0" anchor="t"/>
          <a:lstStyle/>
          <a:p>
            <a:pPr algn="ctr" indent="0" marL="0">
              <a:buNone/>
            </a:pPr>
            <a:r>
              <a:rPr lang="en-US" sz="1500" b="1" dirty="0">
                <a:solidFill>
                  <a:srgbClr val="FFD200"/>
                </a:solidFill>
                <a:latin typeface="Lato" pitchFamily="34" charset="0"/>
                <a:ea typeface="Lato" pitchFamily="34" charset="-122"/>
                <a:cs typeface="Lato" pitchFamily="34" charset="-120"/>
              </a:rPr>
              <a:t>Per provarla: premi «Municipio», ascolta il riepilogo, premi «Partiamo»</a:t>
            </a:r>
            <a:endParaRPr lang="en-US" sz="1500" dirty="0"/>
          </a:p>
        </p:txBody>
      </p:sp>
    </p:spTree>
  </p:cSld>
  <p:clrMapOvr>
    <a:masterClrMapping/>
  </p:clrMapOvr>
</p:sld>
</file>

<file path=ppt/theme/theme1.xml><?xml version="1.0" encoding="utf-8"?>
<a:theme xmlns:a="http://schemas.openxmlformats.org/drawingml/2006/main" name="Sicuro oggi">
  <a:themeElements>
    <a:clrScheme name="Sicuro oggi">
      <a:dk1>
        <a:srgbClr val="1B2333"/>
      </a:dk1>
      <a:lt1>
        <a:srgbClr val="FFFFFF"/>
      </a:lt1>
      <a:dk2>
        <a:srgbClr val="0B3D91"/>
      </a:dk2>
      <a:lt2>
        <a:srgbClr val="E8EEF8"/>
      </a:lt2>
      <a:accent1>
        <a:srgbClr val="0B3D91"/>
      </a:accent1>
      <a:accent2>
        <a:srgbClr val="FFD200"/>
      </a:accent2>
      <a:accent3>
        <a:srgbClr val="D7263D"/>
      </a:accent3>
      <a:accent4>
        <a:srgbClr val="1E8A5A"/>
      </a:accent4>
      <a:accent5>
        <a:srgbClr val="5B6B85"/>
      </a:accent5>
      <a:accent6>
        <a:srgbClr val="5B7FC0"/>
      </a:accent6>
      <a:hlink>
        <a:srgbClr val="0B3D91"/>
      </a:hlink>
      <a:folHlink>
        <a:srgbClr val="5B6B85"/>
      </a:folHlink>
    </a:clrScheme>
    <a:fontScheme name="Sicuro oggi">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Sicuro oggi</dc:title>
  <dc:subject>PptxGenJS Presentation</dc:subject>
  <dc:creator>Sicuro oggi</dc:creator>
  <cp:lastModifiedBy>Sicuro oggi</cp:lastModifiedBy>
  <cp:revision>1</cp:revision>
  <dcterms:created xsi:type="dcterms:W3CDTF">2026-10-12T18:16:15Z</dcterms:created>
  <dcterms:modified xsi:type="dcterms:W3CDTF">2026-10-12T18:16:15Z</dcterms:modified>
</cp:coreProperties>
</file>